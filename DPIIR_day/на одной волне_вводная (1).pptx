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68" r:id="rId3"/>
    <p:sldId id="282" r:id="rId4"/>
    <p:sldId id="281" r:id="rId5"/>
  </p:sldIdLst>
  <p:sldSz cx="13439775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959" userDrawn="1">
          <p15:clr>
            <a:srgbClr val="A4A3A4"/>
          </p15:clr>
        </p15:guide>
        <p15:guide id="4" orient="horz" pos="793" userDrawn="1">
          <p15:clr>
            <a:srgbClr val="A4A3A4"/>
          </p15:clr>
        </p15:guide>
        <p15:guide id="5" pos="8202" userDrawn="1">
          <p15:clr>
            <a:srgbClr val="A4A3A4"/>
          </p15:clr>
        </p15:guide>
        <p15:guide id="6" orient="horz" pos="249" userDrawn="1">
          <p15:clr>
            <a:srgbClr val="A4A3A4"/>
          </p15:clr>
        </p15:guide>
        <p15:guide id="7" pos="8451" userDrawn="1">
          <p15:clr>
            <a:srgbClr val="A4A3A4"/>
          </p15:clr>
        </p15:guide>
        <p15:guide id="8" orient="horz" pos="4513" userDrawn="1">
          <p15:clr>
            <a:srgbClr val="A4A3A4"/>
          </p15:clr>
        </p15:guide>
        <p15:guide id="9" pos="4800" userDrawn="1">
          <p15:clr>
            <a:srgbClr val="A4A3A4"/>
          </p15:clr>
        </p15:guide>
        <p15:guide id="10" pos="5730" userDrawn="1">
          <p15:clr>
            <a:srgbClr val="A4A3A4"/>
          </p15:clr>
        </p15:guide>
        <p15:guide id="11" orient="horz" pos="3810" userDrawn="1">
          <p15:clr>
            <a:srgbClr val="A4A3A4"/>
          </p15:clr>
        </p15:guide>
        <p15:guide id="12" orient="horz" pos="15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24C"/>
    <a:srgbClr val="0B0928"/>
    <a:srgbClr val="1000EF"/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76" autoAdjust="0"/>
    <p:restoredTop sz="94660"/>
  </p:normalViewPr>
  <p:slideViewPr>
    <p:cSldViewPr snapToGrid="0" showGuides="1">
      <p:cViewPr varScale="1">
        <p:scale>
          <a:sx n="148" d="100"/>
          <a:sy n="148" d="100"/>
        </p:scale>
        <p:origin x="72" y="220"/>
      </p:cViewPr>
      <p:guideLst>
        <p:guide orient="horz"/>
        <p:guide pos="264"/>
        <p:guide pos="4959"/>
        <p:guide orient="horz" pos="793"/>
        <p:guide pos="8202"/>
        <p:guide orient="horz" pos="249"/>
        <p:guide pos="8451"/>
        <p:guide orient="horz" pos="4513"/>
        <p:guide pos="4800"/>
        <p:guide pos="5730"/>
        <p:guide orient="horz" pos="3810"/>
        <p:guide orient="horz" pos="15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607533250650324"/>
          <c:y val="7.896782216695165E-3"/>
          <c:w val="0.68784933498699352"/>
          <c:h val="0.98420643556660969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A05E9E"/>
            </a:solidFill>
            <a:ln>
              <a:solidFill>
                <a:srgbClr val="05124C"/>
              </a:solidFill>
            </a:ln>
          </c:spPr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99A-415C-AE00-83290EA4D624}"/>
              </c:ext>
            </c:extLst>
          </c:dPt>
          <c:dPt>
            <c:idx val="1"/>
            <c:bubble3D val="0"/>
            <c:spPr>
              <a:solidFill>
                <a:srgbClr val="B4B4B4"/>
              </a:solidFill>
              <a:ln w="19050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99A-415C-AE00-83290EA4D624}"/>
              </c:ext>
            </c:extLst>
          </c:dPt>
          <c:dPt>
            <c:idx val="2"/>
            <c:bubble3D val="0"/>
            <c:spPr>
              <a:noFill/>
              <a:ln w="19050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99A-415C-AE00-83290EA4D624}"/>
              </c:ext>
            </c:extLst>
          </c:dPt>
          <c:cat>
            <c:strRef>
              <c:f>Лист1!$A$2:$A$4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11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80</c:v>
                </c:pt>
                <c:pt idx="1">
                  <c:v>20</c:v>
                </c:pt>
                <c:pt idx="2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9A-415C-AE00-83290EA4D6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77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607533250650324"/>
          <c:y val="7.896782216695165E-3"/>
          <c:w val="0.68784933498699352"/>
          <c:h val="0.98420643556660969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A05E9E"/>
            </a:solidFill>
            <a:ln>
              <a:solidFill>
                <a:srgbClr val="05124C"/>
              </a:solidFill>
            </a:ln>
          </c:spPr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3D7-4797-9562-3BA7C8AE3588}"/>
              </c:ext>
            </c:extLst>
          </c:dPt>
          <c:dPt>
            <c:idx val="1"/>
            <c:bubble3D val="0"/>
            <c:spPr>
              <a:solidFill>
                <a:srgbClr val="B4B4B4"/>
              </a:solidFill>
              <a:ln w="19050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3D7-4797-9562-3BA7C8AE3588}"/>
              </c:ext>
            </c:extLst>
          </c:dPt>
          <c:dPt>
            <c:idx val="2"/>
            <c:bubble3D val="0"/>
            <c:spPr>
              <a:noFill/>
              <a:ln w="19050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3D7-4797-9562-3BA7C8AE3588}"/>
              </c:ext>
            </c:extLst>
          </c:dPt>
          <c:cat>
            <c:strRef>
              <c:f>Лист1!$A$2:$A$4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11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30</c:v>
                </c:pt>
                <c:pt idx="1">
                  <c:v>70</c:v>
                </c:pt>
                <c:pt idx="2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3D7-4797-9562-3BA7C8AE35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77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607533250650324"/>
          <c:y val="7.896782216695165E-3"/>
          <c:w val="0.68784933498699352"/>
          <c:h val="0.98420643556660969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A6A6A6"/>
            </a:solidFill>
            <a:ln>
              <a:solidFill>
                <a:srgbClr val="05124C"/>
              </a:solidFill>
            </a:ln>
          </c:spPr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F7-4FCB-A3FD-FBCB3046D7D5}"/>
              </c:ext>
            </c:extLst>
          </c:dPt>
          <c:dPt>
            <c:idx val="1"/>
            <c:bubble3D val="0"/>
            <c:spPr>
              <a:solidFill>
                <a:srgbClr val="B4B4B4"/>
              </a:solidFill>
              <a:ln w="19050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9F7-4FCB-A3FD-FBCB3046D7D5}"/>
              </c:ext>
            </c:extLst>
          </c:dPt>
          <c:dPt>
            <c:idx val="2"/>
            <c:bubble3D val="0"/>
            <c:spPr>
              <a:solidFill>
                <a:srgbClr val="05124C"/>
              </a:solidFill>
              <a:ln w="19050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9F7-4FCB-A3FD-FBCB3046D7D5}"/>
              </c:ext>
            </c:extLst>
          </c:dPt>
          <c:cat>
            <c:strRef>
              <c:f>Лист1!$A$2:$A$4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11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45</c:v>
                </c:pt>
                <c:pt idx="1">
                  <c:v>75</c:v>
                </c:pt>
                <c:pt idx="2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9F7-4FCB-A3FD-FBCB3046D7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77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607533250650324"/>
          <c:y val="7.896782216695165E-3"/>
          <c:w val="0.68784933498699352"/>
          <c:h val="0.98420643556660969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A05E9E"/>
            </a:solidFill>
            <a:ln w="28575">
              <a:solidFill>
                <a:srgbClr val="05124C"/>
              </a:solidFill>
            </a:ln>
          </c:spPr>
          <c:dPt>
            <c:idx val="0"/>
            <c:bubble3D val="0"/>
            <c:spPr>
              <a:solidFill>
                <a:schemeClr val="bg1"/>
              </a:solidFill>
              <a:ln w="28575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12D-4932-9ECD-2506D3C9415C}"/>
              </c:ext>
            </c:extLst>
          </c:dPt>
          <c:dPt>
            <c:idx val="1"/>
            <c:bubble3D val="0"/>
            <c:spPr>
              <a:solidFill>
                <a:srgbClr val="B4B4B4"/>
              </a:solidFill>
              <a:ln w="28575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12D-4932-9ECD-2506D3C9415C}"/>
              </c:ext>
            </c:extLst>
          </c:dPt>
          <c:dPt>
            <c:idx val="2"/>
            <c:bubble3D val="0"/>
            <c:spPr>
              <a:noFill/>
              <a:ln w="28575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12D-4932-9ECD-2506D3C9415C}"/>
              </c:ext>
            </c:extLst>
          </c:dPt>
          <c:cat>
            <c:strRef>
              <c:f>Лист1!$A$2:$A$4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11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20</c:v>
                </c:pt>
                <c:pt idx="1">
                  <c:v>80</c:v>
                </c:pt>
                <c:pt idx="2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12D-4932-9ECD-2506D3C941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607533250650324"/>
          <c:y val="7.896782216695165E-3"/>
          <c:w val="0.68784933498699352"/>
          <c:h val="0.98420643556660969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A05E9E"/>
            </a:solidFill>
            <a:ln w="28575">
              <a:solidFill>
                <a:srgbClr val="05124C"/>
              </a:solidFill>
            </a:ln>
          </c:spPr>
          <c:dPt>
            <c:idx val="0"/>
            <c:bubble3D val="0"/>
            <c:spPr>
              <a:solidFill>
                <a:schemeClr val="bg1"/>
              </a:solidFill>
              <a:ln w="28575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990-45F9-A68F-4F5F7627AFD7}"/>
              </c:ext>
            </c:extLst>
          </c:dPt>
          <c:dPt>
            <c:idx val="1"/>
            <c:bubble3D val="0"/>
            <c:spPr>
              <a:solidFill>
                <a:srgbClr val="B4B4B4"/>
              </a:solidFill>
              <a:ln w="28575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990-45F9-A68F-4F5F7627AFD7}"/>
              </c:ext>
            </c:extLst>
          </c:dPt>
          <c:dPt>
            <c:idx val="2"/>
            <c:bubble3D val="0"/>
            <c:spPr>
              <a:noFill/>
              <a:ln w="28575">
                <a:solidFill>
                  <a:srgbClr val="05124C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990-45F9-A68F-4F5F7627AFD7}"/>
              </c:ext>
            </c:extLst>
          </c:dPt>
          <c:cat>
            <c:strRef>
              <c:f>Лист1!$A$2:$A$4</c:f>
              <c:strCache>
                <c:ptCount val="3"/>
                <c:pt idx="0">
                  <c:v>Кв. 1</c:v>
                </c:pt>
                <c:pt idx="1">
                  <c:v>Кв. 2</c:v>
                </c:pt>
                <c:pt idx="2">
                  <c:v>11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20</c:v>
                </c:pt>
                <c:pt idx="1">
                  <c:v>80</c:v>
                </c:pt>
                <c:pt idx="2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990-45F9-A68F-4F5F7627A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rgbClr val="0B0928"/>
      </a:solidFill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551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3632873" cy="7559675"/>
          </a:xfrm>
          <a:prstGeom prst="rect">
            <a:avLst/>
          </a:prstGeom>
          <a:solidFill>
            <a:srgbClr val="0512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687300" y="7157192"/>
            <a:ext cx="827289" cy="402483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LS Hauss Next" pitchFamily="50" charset="0"/>
              </a:defRPr>
            </a:lvl1pPr>
          </a:lstStyle>
          <a:p>
            <a:fld id="{B157884B-B7B3-433D-A4A4-AFB27D6B535F}" type="slidenum">
              <a:rPr lang="ru-RU" smtClean="0"/>
              <a:pPr/>
              <a:t>‹#›</a:t>
            </a:fld>
            <a:endParaRPr lang="ru-RU"/>
          </a:p>
        </p:txBody>
      </p:sp>
      <p:grpSp>
        <p:nvGrpSpPr>
          <p:cNvPr id="8" name="Группа 7"/>
          <p:cNvGrpSpPr/>
          <p:nvPr userDrawn="1"/>
        </p:nvGrpSpPr>
        <p:grpSpPr>
          <a:xfrm>
            <a:off x="419100" y="6948388"/>
            <a:ext cx="2897186" cy="216000"/>
            <a:chOff x="419100" y="7181706"/>
            <a:chExt cx="2897186" cy="216000"/>
          </a:xfrm>
        </p:grpSpPr>
        <p:sp>
          <p:nvSpPr>
            <p:cNvPr id="9" name="Прямоугольник 8"/>
            <p:cNvSpPr/>
            <p:nvPr userDrawn="1"/>
          </p:nvSpPr>
          <p:spPr>
            <a:xfrm>
              <a:off x="1403939" y="7181706"/>
              <a:ext cx="10800" cy="21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0" name="Рисунок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100" y="7181706"/>
              <a:ext cx="810526" cy="216000"/>
            </a:xfrm>
            <a:prstGeom prst="rect">
              <a:avLst/>
            </a:prstGeom>
          </p:spPr>
        </p:pic>
        <p:pic>
          <p:nvPicPr>
            <p:cNvPr id="13" name="Рисунок 12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5262" y="7181706"/>
              <a:ext cx="1731024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0242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66EB-1B52-49E9-9E0A-86D24D5C465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884B-B7B3-433D-A4A4-AFB27D6B5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893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85" y="1884670"/>
            <a:ext cx="11591806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85" y="5059034"/>
            <a:ext cx="11591806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66EB-1B52-49E9-9E0A-86D24D5C465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884B-B7B3-433D-A4A4-AFB27D6B5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113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985" y="2012414"/>
            <a:ext cx="5711904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886" y="2012414"/>
            <a:ext cx="5711904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66EB-1B52-49E9-9E0A-86D24D5C465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884B-B7B3-433D-A4A4-AFB27D6B5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923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5" y="402483"/>
            <a:ext cx="11591806" cy="1461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736" y="1853171"/>
            <a:ext cx="5685654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736" y="2761381"/>
            <a:ext cx="5685654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3886" y="1853171"/>
            <a:ext cx="5713655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3886" y="2761381"/>
            <a:ext cx="5713655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66EB-1B52-49E9-9E0A-86D24D5C465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884B-B7B3-433D-A4A4-AFB27D6B5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77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66EB-1B52-49E9-9E0A-86D24D5C465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884B-B7B3-433D-A4A4-AFB27D6B5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2133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66EB-1B52-49E9-9E0A-86D24D5C465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884B-B7B3-433D-A4A4-AFB27D6B5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26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655" y="1088454"/>
            <a:ext cx="6803886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66EB-1B52-49E9-9E0A-86D24D5C465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884B-B7B3-433D-A4A4-AFB27D6B5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488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3655" y="1088454"/>
            <a:ext cx="6803886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66EB-1B52-49E9-9E0A-86D24D5C465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884B-B7B3-433D-A4A4-AFB27D6B5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0860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66EB-1B52-49E9-9E0A-86D24D5C465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884B-B7B3-433D-A4A4-AFB27D6B5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82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7839" y="402483"/>
            <a:ext cx="2897951" cy="6406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985" y="402483"/>
            <a:ext cx="8525857" cy="64064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66EB-1B52-49E9-9E0A-86D24D5C465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7884B-B7B3-433D-A4A4-AFB27D6B5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5066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866EB-1B52-49E9-9E0A-86D24D5C4651}" type="datetimeFigureOut">
              <a:rPr lang="ru-RU" smtClean="0"/>
              <a:t>17.06.2026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7884B-B7B3-433D-A4A4-AFB27D6B53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184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2412" y="-939338"/>
            <a:ext cx="6345381" cy="9518073"/>
          </a:xfrm>
          <a:prstGeom prst="rect">
            <a:avLst/>
          </a:prstGeom>
        </p:spPr>
      </p:pic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03A0DBC-4810-C332-0D12-B56732BBC3CD}"/>
              </a:ext>
            </a:extLst>
          </p:cNvPr>
          <p:cNvSpPr/>
          <p:nvPr/>
        </p:nvSpPr>
        <p:spPr>
          <a:xfrm rot="5400000">
            <a:off x="9597975" y="3604939"/>
            <a:ext cx="2181341" cy="5728133"/>
          </a:xfrm>
          <a:prstGeom prst="rect">
            <a:avLst/>
          </a:prstGeom>
          <a:gradFill>
            <a:gsLst>
              <a:gs pos="0">
                <a:srgbClr val="0B0928"/>
              </a:gs>
              <a:gs pos="100000">
                <a:srgbClr val="0B0928">
                  <a:alpha val="0"/>
                </a:srgbClr>
              </a:gs>
            </a:gsLst>
            <a:lin ang="1080000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2947" tIns="82947" rIns="82947" bIns="82947" numCol="1" spcCol="38100" rtlCol="0" anchor="ctr">
            <a:noAutofit/>
          </a:bodyPr>
          <a:lstStyle/>
          <a:p>
            <a:pPr defTabSz="1658996"/>
            <a:endParaRPr lang="ru-RU" sz="3266"/>
          </a:p>
        </p:txBody>
      </p:sp>
      <p:sp>
        <p:nvSpPr>
          <p:cNvPr id="32" name="TextBox 19">
            <a:extLst>
              <a:ext uri="{FF2B5EF4-FFF2-40B4-BE49-F238E27FC236}">
                <a16:creationId xmlns:a16="http://schemas.microsoft.com/office/drawing/2014/main" id="{089B1237-1706-0387-31DD-FD2A8F8E3755}"/>
              </a:ext>
            </a:extLst>
          </p:cNvPr>
          <p:cNvSpPr txBox="1"/>
          <p:nvPr/>
        </p:nvSpPr>
        <p:spPr>
          <a:xfrm>
            <a:off x="9096375" y="6751954"/>
            <a:ext cx="2998643" cy="496439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8179" tIns="78179" rIns="78179" bIns="78179" anchor="b">
            <a:spAutoFit/>
          </a:bodyPr>
          <a:lstStyle/>
          <a:p>
            <a:r>
              <a:rPr lang="ru-RU" sz="1100" b="1" dirty="0">
                <a:solidFill>
                  <a:schemeClr val="bg1"/>
                </a:solidFill>
                <a:latin typeface="ALS Hauss Next Wide" pitchFamily="50" charset="0"/>
              </a:rPr>
              <a:t>ИНТЦ МГУ «Воробьевы горы»</a:t>
            </a:r>
            <a:br>
              <a:rPr lang="ru-RU" sz="1100" b="1" dirty="0">
                <a:solidFill>
                  <a:schemeClr val="bg1"/>
                </a:solidFill>
                <a:latin typeface="ALS Hauss Next Wide" pitchFamily="50" charset="0"/>
              </a:rPr>
            </a:br>
            <a:r>
              <a:rPr lang="ru-RU" sz="1100" b="1" dirty="0">
                <a:solidFill>
                  <a:schemeClr val="bg1"/>
                </a:solidFill>
                <a:latin typeface="ALS Hauss Next Wide" pitchFamily="50" charset="0"/>
              </a:rPr>
              <a:t>Кластер «Ломоносов»</a:t>
            </a:r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308" y="-74815"/>
            <a:ext cx="2452788" cy="7725388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15368" y="300538"/>
            <a:ext cx="7304632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2800" b="1" dirty="0">
                <a:solidFill>
                  <a:schemeClr val="bg1"/>
                </a:solidFill>
                <a:latin typeface="ALS Hauss Next Wide" pitchFamily="50" charset="0"/>
              </a:rPr>
              <a:t>Предпринимательство Москвы</a:t>
            </a:r>
          </a:p>
        </p:txBody>
      </p:sp>
      <p:sp>
        <p:nvSpPr>
          <p:cNvPr id="11" name="Rounded Rectangle 105">
            <a:extLst>
              <a:ext uri="{FF2B5EF4-FFF2-40B4-BE49-F238E27FC236}">
                <a16:creationId xmlns:a16="http://schemas.microsoft.com/office/drawing/2014/main" id="{4C9DBFA9-4F24-4AC5-82A3-AAA743323F22}"/>
              </a:ext>
            </a:extLst>
          </p:cNvPr>
          <p:cNvSpPr/>
          <p:nvPr/>
        </p:nvSpPr>
        <p:spPr>
          <a:xfrm flipH="1">
            <a:off x="419099" y="1274939"/>
            <a:ext cx="5522225" cy="305632"/>
          </a:xfrm>
          <a:prstGeom prst="roundRect">
            <a:avLst>
              <a:gd name="adj" fmla="val 50000"/>
            </a:avLst>
          </a:prstGeom>
          <a:noFill/>
          <a:ln w="12700" cap="flat">
            <a:solidFill>
              <a:schemeClr val="bg1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1000EF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6527D7-2EA3-0A4F-4B94-71CF8805CBC3}"/>
              </a:ext>
            </a:extLst>
          </p:cNvPr>
          <p:cNvSpPr txBox="1"/>
          <p:nvPr/>
        </p:nvSpPr>
        <p:spPr>
          <a:xfrm>
            <a:off x="474065" y="1293160"/>
            <a:ext cx="5507010" cy="2616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251908" hangingPunct="1">
              <a:defRPr/>
            </a:pPr>
            <a:r>
              <a:rPr lang="ru-RU" sz="1100" b="1" kern="1200" spc="50" dirty="0">
                <a:solidFill>
                  <a:schemeClr val="bg1"/>
                </a:solidFill>
                <a:latin typeface="ALS Hauss Next Wide" pitchFamily="50" charset="0"/>
                <a:cs typeface="Calibri"/>
              </a:rPr>
              <a:t>КОЛИЧЕСТВО КОММЕРЧЕСКИХ ПРЕДПРИЯТИЙ МОСКВЫ</a:t>
            </a:r>
          </a:p>
        </p:txBody>
      </p:sp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858948D6-F1AD-4EDB-B984-B1F5CC8111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1963878"/>
              </p:ext>
            </p:extLst>
          </p:nvPr>
        </p:nvGraphicFramePr>
        <p:xfrm>
          <a:off x="219949" y="1664892"/>
          <a:ext cx="1908208" cy="1259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object 22">
            <a:extLst>
              <a:ext uri="{FF2B5EF4-FFF2-40B4-BE49-F238E27FC236}">
                <a16:creationId xmlns:a16="http://schemas.microsoft.com/office/drawing/2014/main" id="{4256A440-6E64-469E-8634-C280F87576AF}"/>
              </a:ext>
            </a:extLst>
          </p:cNvPr>
          <p:cNvSpPr txBox="1"/>
          <p:nvPr/>
        </p:nvSpPr>
        <p:spPr>
          <a:xfrm>
            <a:off x="703097" y="1956444"/>
            <a:ext cx="870946" cy="550755"/>
          </a:xfrm>
          <a:prstGeom prst="rect">
            <a:avLst/>
          </a:prstGeom>
        </p:spPr>
        <p:txBody>
          <a:bodyPr vert="horz" wrap="square" lIns="0" tIns="6504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505" algn="ctr" defTabSz="468403">
              <a:lnSpc>
                <a:spcPct val="90000"/>
              </a:lnSpc>
              <a:defRPr sz="1323" spc="-23">
                <a:solidFill>
                  <a:prstClr val="black"/>
                </a:solidFill>
                <a:latin typeface="Druk Wide Cyr" pitchFamily="2" charset="77"/>
                <a:cs typeface="Cera PRO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2000" b="1" dirty="0">
                <a:solidFill>
                  <a:schemeClr val="bg1"/>
                </a:solidFill>
                <a:latin typeface="ALS Hauss Next Wide" pitchFamily="50" charset="0"/>
                <a:cs typeface="+mj-cs"/>
              </a:rPr>
              <a:t>1,111</a:t>
            </a:r>
            <a:r>
              <a:rPr lang="ru-RU" sz="1600" b="1" dirty="0">
                <a:solidFill>
                  <a:schemeClr val="bg1"/>
                </a:solidFill>
                <a:latin typeface="ALS Hauss Next Wide" pitchFamily="50" charset="0"/>
                <a:cs typeface="+mj-cs"/>
              </a:rPr>
              <a:t> млн</a:t>
            </a:r>
            <a:endParaRPr lang="en-US" sz="1600" b="1" dirty="0">
              <a:solidFill>
                <a:schemeClr val="bg1"/>
              </a:solidFill>
              <a:latin typeface="ALS Hauss Next Wide" pitchFamily="50" charset="0"/>
              <a:cs typeface="+mj-cs"/>
            </a:endParaRPr>
          </a:p>
          <a:p>
            <a:pPr>
              <a:lnSpc>
                <a:spcPct val="80000"/>
              </a:lnSpc>
            </a:pPr>
            <a:r>
              <a:rPr lang="ru-RU" sz="800" spc="0" dirty="0">
                <a:solidFill>
                  <a:schemeClr val="bg1"/>
                </a:solidFill>
                <a:latin typeface="ALS Hauss Next" pitchFamily="50" charset="0"/>
                <a:cs typeface="+mj-cs"/>
              </a:rPr>
              <a:t>всего предприятий</a:t>
            </a:r>
            <a:endParaRPr sz="800" spc="0" dirty="0">
              <a:solidFill>
                <a:schemeClr val="bg1"/>
              </a:solidFill>
              <a:latin typeface="ALS Hauss Next" pitchFamily="50" charset="0"/>
              <a:cs typeface="+mj-cs"/>
            </a:endParaRPr>
          </a:p>
        </p:txBody>
      </p:sp>
      <p:sp>
        <p:nvSpPr>
          <p:cNvPr id="18" name="Rounded Rectangle 105">
            <a:extLst>
              <a:ext uri="{FF2B5EF4-FFF2-40B4-BE49-F238E27FC236}">
                <a16:creationId xmlns:a16="http://schemas.microsoft.com/office/drawing/2014/main" id="{4C9DBFA9-4F24-4AC5-82A3-AAA743323F22}"/>
              </a:ext>
            </a:extLst>
          </p:cNvPr>
          <p:cNvSpPr/>
          <p:nvPr/>
        </p:nvSpPr>
        <p:spPr>
          <a:xfrm flipH="1">
            <a:off x="419098" y="3179429"/>
            <a:ext cx="2863747" cy="305632"/>
          </a:xfrm>
          <a:prstGeom prst="roundRect">
            <a:avLst>
              <a:gd name="adj" fmla="val 50000"/>
            </a:avLst>
          </a:prstGeom>
          <a:noFill/>
          <a:ln w="19050" cap="flat">
            <a:solidFill>
              <a:schemeClr val="bg1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1000EF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6527D7-2EA3-0A4F-4B94-71CF8805CBC3}"/>
              </a:ext>
            </a:extLst>
          </p:cNvPr>
          <p:cNvSpPr txBox="1"/>
          <p:nvPr/>
        </p:nvSpPr>
        <p:spPr>
          <a:xfrm>
            <a:off x="509041" y="3197650"/>
            <a:ext cx="2751730" cy="2616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251908">
              <a:defRPr/>
            </a:pPr>
            <a:r>
              <a:rPr lang="ru-RU" sz="1100" b="1" spc="50" dirty="0">
                <a:solidFill>
                  <a:schemeClr val="bg1"/>
                </a:solidFill>
                <a:latin typeface="ALS Hauss Next Wide" pitchFamily="50" charset="0"/>
                <a:cs typeface="Calibri"/>
              </a:rPr>
              <a:t>ЗАНЯТЫЕ В СЕКТОРЕ МСП</a:t>
            </a:r>
          </a:p>
        </p:txBody>
      </p:sp>
      <p:graphicFrame>
        <p:nvGraphicFramePr>
          <p:cNvPr id="20" name="Диаграмма 19">
            <a:extLst>
              <a:ext uri="{FF2B5EF4-FFF2-40B4-BE49-F238E27FC236}">
                <a16:creationId xmlns:a16="http://schemas.microsoft.com/office/drawing/2014/main" id="{22118FAF-E49F-48C2-9FD7-88EA365F98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3245425"/>
              </p:ext>
            </p:extLst>
          </p:nvPr>
        </p:nvGraphicFramePr>
        <p:xfrm>
          <a:off x="219949" y="5426041"/>
          <a:ext cx="1908208" cy="1259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1" name="Диаграмма 20">
            <a:extLst>
              <a:ext uri="{FF2B5EF4-FFF2-40B4-BE49-F238E27FC236}">
                <a16:creationId xmlns:a16="http://schemas.microsoft.com/office/drawing/2014/main" id="{B22E37DF-78DF-4F4C-A7F2-DEBDB6E1C5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2056313"/>
              </p:ext>
            </p:extLst>
          </p:nvPr>
        </p:nvGraphicFramePr>
        <p:xfrm>
          <a:off x="219949" y="3537010"/>
          <a:ext cx="1908208" cy="1259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2" name="object 22">
            <a:extLst>
              <a:ext uri="{FF2B5EF4-FFF2-40B4-BE49-F238E27FC236}">
                <a16:creationId xmlns:a16="http://schemas.microsoft.com/office/drawing/2014/main" id="{4256A440-6E64-469E-8634-C280F87576AF}"/>
              </a:ext>
            </a:extLst>
          </p:cNvPr>
          <p:cNvSpPr txBox="1"/>
          <p:nvPr/>
        </p:nvSpPr>
        <p:spPr>
          <a:xfrm>
            <a:off x="703097" y="3806340"/>
            <a:ext cx="870946" cy="646743"/>
          </a:xfrm>
          <a:prstGeom prst="rect">
            <a:avLst/>
          </a:prstGeom>
        </p:spPr>
        <p:txBody>
          <a:bodyPr vert="horz" wrap="square" lIns="0" tIns="6504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505" algn="ctr" defTabSz="468403">
              <a:lnSpc>
                <a:spcPct val="90000"/>
              </a:lnSpc>
              <a:defRPr sz="1323" spc="-23">
                <a:solidFill>
                  <a:prstClr val="black"/>
                </a:solidFill>
                <a:latin typeface="Druk Wide Cyr" pitchFamily="2" charset="77"/>
                <a:cs typeface="Cera PRO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2000" b="1" dirty="0">
                <a:solidFill>
                  <a:schemeClr val="bg1"/>
                </a:solidFill>
                <a:latin typeface="ALS Hauss Next Wide" pitchFamily="50" charset="0"/>
                <a:cs typeface="+mj-cs"/>
              </a:rPr>
              <a:t>8,5</a:t>
            </a:r>
            <a:r>
              <a:rPr lang="ru-RU" sz="1600" b="1" dirty="0">
                <a:solidFill>
                  <a:schemeClr val="bg1"/>
                </a:solidFill>
                <a:latin typeface="ALS Hauss Next Wide" pitchFamily="50" charset="0"/>
                <a:cs typeface="+mj-cs"/>
              </a:rPr>
              <a:t> </a:t>
            </a:r>
            <a:br>
              <a:rPr lang="en-US" sz="1600" b="1" dirty="0">
                <a:solidFill>
                  <a:schemeClr val="bg1"/>
                </a:solidFill>
                <a:latin typeface="ALS Hauss Next Wide" pitchFamily="50" charset="0"/>
                <a:cs typeface="+mj-cs"/>
              </a:rPr>
            </a:br>
            <a:r>
              <a:rPr lang="ru-RU" sz="1600" b="1" dirty="0">
                <a:solidFill>
                  <a:schemeClr val="bg1"/>
                </a:solidFill>
                <a:latin typeface="ALS Hauss Next Wide" pitchFamily="50" charset="0"/>
                <a:cs typeface="+mj-cs"/>
              </a:rPr>
              <a:t>млн</a:t>
            </a:r>
            <a:endParaRPr lang="en-US" sz="1600" b="1" dirty="0">
              <a:solidFill>
                <a:schemeClr val="bg1"/>
              </a:solidFill>
              <a:latin typeface="ALS Hauss Next Wide" pitchFamily="50" charset="0"/>
              <a:cs typeface="+mj-cs"/>
            </a:endParaRPr>
          </a:p>
          <a:p>
            <a:pPr>
              <a:lnSpc>
                <a:spcPct val="80000"/>
              </a:lnSpc>
            </a:pPr>
            <a:r>
              <a:rPr lang="ru-RU" sz="800" spc="0" dirty="0">
                <a:solidFill>
                  <a:schemeClr val="bg1"/>
                </a:solidFill>
                <a:latin typeface="ALS Hauss Next" pitchFamily="50" charset="0"/>
                <a:cs typeface="+mj-cs"/>
              </a:rPr>
              <a:t>чел. занято </a:t>
            </a:r>
            <a:br>
              <a:rPr lang="ru-RU" sz="800" spc="0" dirty="0">
                <a:solidFill>
                  <a:schemeClr val="bg1"/>
                </a:solidFill>
                <a:latin typeface="ALS Hauss Next" pitchFamily="50" charset="0"/>
                <a:cs typeface="+mj-cs"/>
              </a:rPr>
            </a:br>
            <a:r>
              <a:rPr lang="ru-RU" sz="800" spc="0" dirty="0">
                <a:solidFill>
                  <a:schemeClr val="bg1"/>
                </a:solidFill>
                <a:latin typeface="ALS Hauss Next" pitchFamily="50" charset="0"/>
                <a:cs typeface="+mj-cs"/>
              </a:rPr>
              <a:t>в Москве</a:t>
            </a: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4256A440-6E64-469E-8634-C280F87576AF}"/>
              </a:ext>
            </a:extLst>
          </p:cNvPr>
          <p:cNvSpPr txBox="1"/>
          <p:nvPr/>
        </p:nvSpPr>
        <p:spPr>
          <a:xfrm>
            <a:off x="703097" y="5763676"/>
            <a:ext cx="870946" cy="646743"/>
          </a:xfrm>
          <a:prstGeom prst="rect">
            <a:avLst/>
          </a:prstGeom>
        </p:spPr>
        <p:txBody>
          <a:bodyPr vert="horz" wrap="square" lIns="0" tIns="6504" rIns="0" bIns="0" rtlCol="0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6505" algn="ctr" defTabSz="468403">
              <a:lnSpc>
                <a:spcPct val="90000"/>
              </a:lnSpc>
              <a:defRPr sz="1323" spc="-23">
                <a:solidFill>
                  <a:prstClr val="black"/>
                </a:solidFill>
                <a:latin typeface="Druk Wide Cyr" pitchFamily="2" charset="77"/>
                <a:cs typeface="Cera PRO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2000" b="1" dirty="0">
                <a:solidFill>
                  <a:schemeClr val="bg1"/>
                </a:solidFill>
                <a:latin typeface="ALS Hauss Next Wide" pitchFamily="50" charset="0"/>
                <a:cs typeface="+mj-cs"/>
              </a:rPr>
              <a:t>4,7</a:t>
            </a:r>
            <a:r>
              <a:rPr lang="ru-RU" sz="1600" b="1" dirty="0">
                <a:solidFill>
                  <a:schemeClr val="bg1"/>
                </a:solidFill>
                <a:latin typeface="ALS Hauss Next Wide" pitchFamily="50" charset="0"/>
                <a:cs typeface="+mj-cs"/>
              </a:rPr>
              <a:t> </a:t>
            </a:r>
            <a:br>
              <a:rPr lang="en-US" sz="1600" b="1" dirty="0">
                <a:solidFill>
                  <a:schemeClr val="bg1"/>
                </a:solidFill>
                <a:latin typeface="ALS Hauss Next Wide" pitchFamily="50" charset="0"/>
                <a:cs typeface="+mj-cs"/>
              </a:rPr>
            </a:br>
            <a:r>
              <a:rPr lang="ru-RU" sz="1600" b="1" dirty="0">
                <a:solidFill>
                  <a:schemeClr val="bg1"/>
                </a:solidFill>
                <a:latin typeface="ALS Hauss Next Wide" pitchFamily="50" charset="0"/>
                <a:cs typeface="+mj-cs"/>
              </a:rPr>
              <a:t>трлн ₽</a:t>
            </a:r>
            <a:endParaRPr lang="en-US" sz="1600" b="1" dirty="0">
              <a:solidFill>
                <a:schemeClr val="bg1"/>
              </a:solidFill>
              <a:latin typeface="ALS Hauss Next Wide" pitchFamily="50" charset="0"/>
              <a:cs typeface="+mj-cs"/>
            </a:endParaRPr>
          </a:p>
          <a:p>
            <a:pPr>
              <a:lnSpc>
                <a:spcPct val="80000"/>
              </a:lnSpc>
            </a:pPr>
            <a:r>
              <a:rPr lang="ru-RU" sz="800" spc="0" dirty="0">
                <a:solidFill>
                  <a:schemeClr val="bg1"/>
                </a:solidFill>
                <a:latin typeface="ALS Hauss Next" pitchFamily="50" charset="0"/>
                <a:cs typeface="+mj-cs"/>
              </a:rPr>
              <a:t>налогов </a:t>
            </a:r>
            <a:br>
              <a:rPr lang="ru-RU" sz="800" spc="0" dirty="0">
                <a:solidFill>
                  <a:schemeClr val="bg1"/>
                </a:solidFill>
                <a:latin typeface="ALS Hauss Next" pitchFamily="50" charset="0"/>
                <a:cs typeface="+mj-cs"/>
              </a:rPr>
            </a:br>
            <a:r>
              <a:rPr lang="ru-RU" sz="800" spc="0" dirty="0">
                <a:solidFill>
                  <a:schemeClr val="bg1"/>
                </a:solidFill>
                <a:latin typeface="ALS Hauss Next" pitchFamily="50" charset="0"/>
                <a:cs typeface="+mj-cs"/>
              </a:rPr>
              <a:t>в Москве</a:t>
            </a:r>
          </a:p>
        </p:txBody>
      </p:sp>
      <p:sp>
        <p:nvSpPr>
          <p:cNvPr id="28" name="Rounded Rectangle 105">
            <a:extLst>
              <a:ext uri="{FF2B5EF4-FFF2-40B4-BE49-F238E27FC236}">
                <a16:creationId xmlns:a16="http://schemas.microsoft.com/office/drawing/2014/main" id="{4C9DBFA9-4F24-4AC5-82A3-AAA743323F22}"/>
              </a:ext>
            </a:extLst>
          </p:cNvPr>
          <p:cNvSpPr/>
          <p:nvPr/>
        </p:nvSpPr>
        <p:spPr>
          <a:xfrm flipH="1">
            <a:off x="419096" y="5054875"/>
            <a:ext cx="3828116" cy="305632"/>
          </a:xfrm>
          <a:prstGeom prst="roundRect">
            <a:avLst>
              <a:gd name="adj" fmla="val 50000"/>
            </a:avLst>
          </a:prstGeom>
          <a:noFill/>
          <a:ln w="12700" cap="flat">
            <a:solidFill>
              <a:schemeClr val="bg1"/>
            </a:solidFill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 dirty="0">
              <a:ln>
                <a:noFill/>
              </a:ln>
              <a:solidFill>
                <a:srgbClr val="1000EF"/>
              </a:solidFill>
              <a:effectLst/>
              <a:uLnTx/>
              <a:uFillTx/>
              <a:latin typeface="Helvetica"/>
              <a:cs typeface="Helvetica"/>
              <a:sym typeface="Helvetic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6527D7-2EA3-0A4F-4B94-71CF8805CBC3}"/>
              </a:ext>
            </a:extLst>
          </p:cNvPr>
          <p:cNvSpPr txBox="1"/>
          <p:nvPr/>
        </p:nvSpPr>
        <p:spPr>
          <a:xfrm>
            <a:off x="554013" y="5073096"/>
            <a:ext cx="3725270" cy="2616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251908">
              <a:defRPr/>
            </a:pPr>
            <a:r>
              <a:rPr lang="ru-RU" sz="1100" b="1" spc="50" dirty="0">
                <a:solidFill>
                  <a:schemeClr val="bg1"/>
                </a:solidFill>
                <a:latin typeface="ALS Hauss Next Wide" pitchFamily="50" charset="0"/>
                <a:cs typeface="Calibri"/>
              </a:rPr>
              <a:t>НАЛОГОВЫЕ ПОСТУПЛЕНИЯ ОТ</a:t>
            </a:r>
            <a:r>
              <a:rPr lang="en-US" sz="1100" b="1" spc="50" dirty="0">
                <a:solidFill>
                  <a:schemeClr val="bg1"/>
                </a:solidFill>
                <a:latin typeface="ALS Hauss Next Wide" pitchFamily="50" charset="0"/>
                <a:cs typeface="Calibri"/>
              </a:rPr>
              <a:t> </a:t>
            </a:r>
            <a:r>
              <a:rPr lang="ru-RU" sz="1100" b="1" spc="50" dirty="0">
                <a:solidFill>
                  <a:schemeClr val="bg1"/>
                </a:solidFill>
                <a:latin typeface="ALS Hauss Next Wide" pitchFamily="50" charset="0"/>
                <a:cs typeface="Calibri"/>
              </a:rPr>
              <a:t>МСП</a:t>
            </a:r>
          </a:p>
        </p:txBody>
      </p:sp>
      <p:sp>
        <p:nvSpPr>
          <p:cNvPr id="27" name="name_922  138   16 141   2024">
            <a:extLst>
              <a:ext uri="{FF2B5EF4-FFF2-40B4-BE49-F238E27FC236}">
                <a16:creationId xmlns:a16="http://schemas.microsoft.com/office/drawing/2014/main" id="{5892DEC7-E1DF-43DC-89A9-772CFECC98E3}"/>
              </a:ext>
            </a:extLst>
          </p:cNvPr>
          <p:cNvSpPr/>
          <p:nvPr/>
        </p:nvSpPr>
        <p:spPr>
          <a:xfrm>
            <a:off x="2357951" y="2339706"/>
            <a:ext cx="3695413" cy="269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&gt;</a:t>
            </a:r>
            <a:r>
              <a:rPr lang="ru-RU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84</a:t>
            </a:r>
            <a:r>
              <a:rPr lang="en-US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%</a:t>
            </a:r>
            <a:r>
              <a:rPr lang="ru-RU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 </a:t>
            </a:r>
            <a:r>
              <a:rPr lang="ru-RU" sz="1400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от всех предприятий города </a:t>
            </a:r>
          </a:p>
        </p:txBody>
      </p:sp>
      <p:sp>
        <p:nvSpPr>
          <p:cNvPr id="34" name="name_922  138   16 141   2024">
            <a:extLst>
              <a:ext uri="{FF2B5EF4-FFF2-40B4-BE49-F238E27FC236}">
                <a16:creationId xmlns:a16="http://schemas.microsoft.com/office/drawing/2014/main" id="{4151405C-F4D1-4B40-972C-0B8213626509}"/>
              </a:ext>
            </a:extLst>
          </p:cNvPr>
          <p:cNvSpPr/>
          <p:nvPr/>
        </p:nvSpPr>
        <p:spPr>
          <a:xfrm>
            <a:off x="2357951" y="1738106"/>
            <a:ext cx="3327173" cy="514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&gt;</a:t>
            </a:r>
            <a:r>
              <a:rPr lang="ru-RU" sz="3200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937</a:t>
            </a:r>
            <a:r>
              <a:rPr lang="en-US" sz="2400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тыс</a:t>
            </a:r>
            <a:r>
              <a:rPr lang="en-US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.</a:t>
            </a:r>
            <a:r>
              <a:rPr lang="ru-RU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 МСП</a:t>
            </a:r>
            <a:endParaRPr lang="en-US" b="1" dirty="0">
              <a:solidFill>
                <a:schemeClr val="bg1"/>
              </a:solidFill>
              <a:latin typeface="ALS Hauss Next Wide" pitchFamily="50" charset="0"/>
            </a:endParaRPr>
          </a:p>
        </p:txBody>
      </p:sp>
      <p:sp>
        <p:nvSpPr>
          <p:cNvPr id="35" name="name_34  153   63 204   2024">
            <a:extLst>
              <a:ext uri="{FF2B5EF4-FFF2-40B4-BE49-F238E27FC236}">
                <a16:creationId xmlns:a16="http://schemas.microsoft.com/office/drawing/2014/main" id="{F1D91C87-62C5-49E3-AB45-895711EACEB1}"/>
              </a:ext>
            </a:extLst>
          </p:cNvPr>
          <p:cNvSpPr/>
          <p:nvPr/>
        </p:nvSpPr>
        <p:spPr>
          <a:xfrm>
            <a:off x="2353402" y="3676234"/>
            <a:ext cx="2344258" cy="38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3200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&gt;3,</a:t>
            </a:r>
            <a:r>
              <a:rPr lang="ru-RU" sz="3200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5</a:t>
            </a:r>
            <a:r>
              <a:rPr lang="en-US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млн</a:t>
            </a:r>
            <a:r>
              <a:rPr lang="ru-RU" sz="3200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ALS Hauss Next Wide" pitchFamily="50" charset="0"/>
                <a:ea typeface="Cera Pro Regular" pitchFamily="34" charset="-122"/>
                <a:cs typeface="Cera Pro Regular" pitchFamily="34" charset="-120"/>
              </a:rPr>
              <a:t>
</a:t>
            </a:r>
            <a:endParaRPr lang="en-US" dirty="0">
              <a:solidFill>
                <a:schemeClr val="bg1"/>
              </a:solidFill>
              <a:latin typeface="ALS Hauss Next Wide" pitchFamily="50" charset="0"/>
            </a:endParaRPr>
          </a:p>
        </p:txBody>
      </p:sp>
      <p:sp>
        <p:nvSpPr>
          <p:cNvPr id="36" name="name_922  138   16 141   2024">
            <a:extLst>
              <a:ext uri="{FF2B5EF4-FFF2-40B4-BE49-F238E27FC236}">
                <a16:creationId xmlns:a16="http://schemas.microsoft.com/office/drawing/2014/main" id="{EA6573BB-B9F8-44D2-9A83-9AFA2B55D9CA}"/>
              </a:ext>
            </a:extLst>
          </p:cNvPr>
          <p:cNvSpPr/>
          <p:nvPr/>
        </p:nvSpPr>
        <p:spPr>
          <a:xfrm>
            <a:off x="2353402" y="4243972"/>
            <a:ext cx="3695413" cy="269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Каждый</a:t>
            </a:r>
            <a:r>
              <a:rPr lang="ru-RU" sz="1400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 </a:t>
            </a:r>
            <a:r>
              <a:rPr lang="ru-RU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3</a:t>
            </a:r>
            <a:r>
              <a:rPr lang="ru-RU" sz="1400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-й</a:t>
            </a:r>
            <a:r>
              <a:rPr lang="ru-RU" sz="1400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 занят в секторе МСП</a:t>
            </a:r>
          </a:p>
        </p:txBody>
      </p:sp>
      <p:sp>
        <p:nvSpPr>
          <p:cNvPr id="37" name="name_121           2024  224 222    2023">
            <a:extLst>
              <a:ext uri="{FF2B5EF4-FFF2-40B4-BE49-F238E27FC236}">
                <a16:creationId xmlns:a16="http://schemas.microsoft.com/office/drawing/2014/main" id="{462989B4-0D02-47F2-9CDD-7AF722D30BB5}"/>
              </a:ext>
            </a:extLst>
          </p:cNvPr>
          <p:cNvSpPr/>
          <p:nvPr/>
        </p:nvSpPr>
        <p:spPr>
          <a:xfrm>
            <a:off x="2353402" y="5559145"/>
            <a:ext cx="4172088" cy="62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85000"/>
              </a:lnSpc>
            </a:pPr>
            <a:r>
              <a:rPr lang="ru-RU" sz="3200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1,25</a:t>
            </a:r>
            <a:r>
              <a:rPr lang="en-US" sz="1754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трлн ₽</a:t>
            </a:r>
            <a:br>
              <a:rPr sz="1929" dirty="0">
                <a:solidFill>
                  <a:schemeClr val="bg1"/>
                </a:solidFill>
                <a:latin typeface="ALS Hauss Next Wide" pitchFamily="50" charset="0"/>
              </a:rPr>
            </a:br>
            <a:r>
              <a:rPr lang="en-US" sz="1100" dirty="0">
                <a:solidFill>
                  <a:schemeClr val="bg1"/>
                </a:solidFill>
                <a:latin typeface="ALS Hauss Next" pitchFamily="50" charset="0"/>
                <a:ea typeface="Cera Pro Regular" pitchFamily="34" charset="-122"/>
                <a:cs typeface="Cera Pro Regular" pitchFamily="34" charset="-120"/>
              </a:rPr>
              <a:t>налоговые поступления от МСП в бюджет </a:t>
            </a:r>
            <a:r>
              <a:rPr lang="en-US" sz="1100" dirty="0" err="1">
                <a:solidFill>
                  <a:schemeClr val="bg1"/>
                </a:solidFill>
                <a:latin typeface="ALS Hauss Next" pitchFamily="50" charset="0"/>
                <a:ea typeface="Cera Pro Regular" pitchFamily="34" charset="-122"/>
                <a:cs typeface="Cera Pro Regular" pitchFamily="34" charset="-120"/>
              </a:rPr>
              <a:t>Москвы</a:t>
            </a:r>
            <a:r>
              <a:rPr lang="en-US" sz="1100" dirty="0">
                <a:solidFill>
                  <a:schemeClr val="bg1"/>
                </a:solidFill>
                <a:latin typeface="ALS Hauss Next" pitchFamily="50" charset="0"/>
                <a:ea typeface="Cera Pro Regular" pitchFamily="34" charset="-122"/>
                <a:cs typeface="Cera Pro Regular" pitchFamily="34" charset="-120"/>
              </a:rPr>
              <a:t> в</a:t>
            </a:r>
            <a:r>
              <a:rPr lang="ru-RU" sz="1100" dirty="0">
                <a:solidFill>
                  <a:schemeClr val="bg1"/>
                </a:solidFill>
                <a:latin typeface="ALS Hauss Next" pitchFamily="50" charset="0"/>
                <a:ea typeface="Cera Pro Regular" pitchFamily="34" charset="-122"/>
                <a:cs typeface="Cera Pro Regular" pitchFamily="34" charset="-120"/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ALS Hauss Next" pitchFamily="50" charset="0"/>
                <a:ea typeface="Cera Pro Regular" pitchFamily="34" charset="-122"/>
                <a:cs typeface="Cera Pro Regular" pitchFamily="34" charset="-120"/>
              </a:rPr>
              <a:t>202</a:t>
            </a:r>
            <a:r>
              <a:rPr lang="ru-RU" sz="1100" dirty="0">
                <a:solidFill>
                  <a:schemeClr val="bg1"/>
                </a:solidFill>
                <a:latin typeface="ALS Hauss Next" pitchFamily="50" charset="0"/>
                <a:ea typeface="Cera Pro Regular" pitchFamily="34" charset="-122"/>
                <a:cs typeface="Cera Pro Regular" pitchFamily="34" charset="-120"/>
              </a:rPr>
              <a:t>5</a:t>
            </a:r>
            <a:r>
              <a:rPr lang="en-US" sz="1100" dirty="0">
                <a:solidFill>
                  <a:schemeClr val="bg1"/>
                </a:solidFill>
                <a:latin typeface="ALS Hauss Next" pitchFamily="50" charset="0"/>
                <a:ea typeface="Cera Pro Regular" pitchFamily="34" charset="-122"/>
                <a:cs typeface="Cera Pro Regular" pitchFamily="34" charset="-120"/>
              </a:rPr>
              <a:t> г.</a:t>
            </a:r>
            <a:r>
              <a:rPr lang="en-US" sz="1400" dirty="0">
                <a:solidFill>
                  <a:schemeClr val="bg1"/>
                </a:solidFill>
                <a:latin typeface="ALS Hauss Next" pitchFamily="50" charset="0"/>
                <a:ea typeface="Cera Pro Regular" pitchFamily="34" charset="-122"/>
                <a:cs typeface="Cera Pro Regular" pitchFamily="34" charset="-120"/>
              </a:rPr>
              <a:t>
</a:t>
            </a:r>
            <a:endParaRPr lang="en-US" dirty="0">
              <a:solidFill>
                <a:schemeClr val="bg1"/>
              </a:solidFill>
              <a:latin typeface="ALS Hauss Next" pitchFamily="50" charset="0"/>
            </a:endParaRPr>
          </a:p>
        </p:txBody>
      </p:sp>
      <p:sp>
        <p:nvSpPr>
          <p:cNvPr id="38" name="name_922  138   16 141   2024">
            <a:extLst>
              <a:ext uri="{FF2B5EF4-FFF2-40B4-BE49-F238E27FC236}">
                <a16:creationId xmlns:a16="http://schemas.microsoft.com/office/drawing/2014/main" id="{EA6573BB-B9F8-44D2-9A83-9AFA2B55D9CA}"/>
              </a:ext>
            </a:extLst>
          </p:cNvPr>
          <p:cNvSpPr/>
          <p:nvPr/>
        </p:nvSpPr>
        <p:spPr>
          <a:xfrm>
            <a:off x="2353402" y="6253988"/>
            <a:ext cx="4190285" cy="269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Каждый</a:t>
            </a:r>
            <a:r>
              <a:rPr lang="ru-RU" sz="1400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4</a:t>
            </a:r>
            <a:r>
              <a:rPr lang="ru-RU" sz="1400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-й</a:t>
            </a:r>
            <a:r>
              <a:rPr lang="en-US" sz="1400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₽</a:t>
            </a:r>
            <a:r>
              <a:rPr lang="ru-RU" sz="1400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 в налогах Москвы – от МСП</a:t>
            </a:r>
          </a:p>
        </p:txBody>
      </p:sp>
    </p:spTree>
    <p:extLst>
      <p:ext uri="{BB962C8B-B14F-4D97-AF65-F5344CB8AC3E}">
        <p14:creationId xmlns:p14="http://schemas.microsoft.com/office/powerpoint/2010/main" val="674002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2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7" t="17483" b="10528"/>
          <a:stretch/>
        </p:blipFill>
        <p:spPr>
          <a:xfrm>
            <a:off x="7801429" y="-166914"/>
            <a:ext cx="6233885" cy="7924800"/>
          </a:xfrm>
          <a:prstGeom prst="rect">
            <a:avLst/>
          </a:prstGeom>
        </p:spPr>
      </p:pic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03A0DBC-4810-C332-0D12-B56732BBC3CD}"/>
              </a:ext>
            </a:extLst>
          </p:cNvPr>
          <p:cNvSpPr/>
          <p:nvPr/>
        </p:nvSpPr>
        <p:spPr>
          <a:xfrm rot="5400000">
            <a:off x="9381847" y="3388810"/>
            <a:ext cx="2613599" cy="5728133"/>
          </a:xfrm>
          <a:prstGeom prst="rect">
            <a:avLst/>
          </a:prstGeom>
          <a:gradFill>
            <a:gsLst>
              <a:gs pos="0">
                <a:srgbClr val="0B0928"/>
              </a:gs>
              <a:gs pos="100000">
                <a:srgbClr val="0B0928">
                  <a:alpha val="0"/>
                </a:srgbClr>
              </a:gs>
            </a:gsLst>
            <a:lin ang="1080000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2947" tIns="82947" rIns="82947" bIns="82947" numCol="1" spcCol="38100" rtlCol="0" anchor="ctr">
            <a:noAutofit/>
          </a:bodyPr>
          <a:lstStyle/>
          <a:p>
            <a:pPr defTabSz="1658996"/>
            <a:endParaRPr lang="ru-RU" sz="3266"/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089B1237-1706-0387-31DD-FD2A8F8E3755}"/>
              </a:ext>
            </a:extLst>
          </p:cNvPr>
          <p:cNvSpPr txBox="1"/>
          <p:nvPr/>
        </p:nvSpPr>
        <p:spPr>
          <a:xfrm>
            <a:off x="9096374" y="6061946"/>
            <a:ext cx="3846253" cy="1127381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8179" tIns="78179" rIns="78179" bIns="78179" anchor="b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ALS Hauss Next Wide" pitchFamily="50" charset="0"/>
              </a:rPr>
              <a:t>Татьяна Матасова </a:t>
            </a:r>
            <a:br>
              <a:rPr lang="ru-RU" sz="1400" dirty="0">
                <a:solidFill>
                  <a:schemeClr val="bg1"/>
                </a:solidFill>
                <a:latin typeface="ALS Hauss Next Wide" pitchFamily="50" charset="0"/>
              </a:rPr>
            </a:br>
            <a:r>
              <a:rPr lang="ru-RU" sz="1100" b="1" dirty="0" err="1">
                <a:solidFill>
                  <a:schemeClr val="bg1"/>
                </a:solidFill>
                <a:latin typeface="ALS Hauss Next" pitchFamily="50" charset="0"/>
              </a:rPr>
              <a:t>Франчайзи</a:t>
            </a:r>
            <a:r>
              <a:rPr lang="ru-RU" sz="1100" b="1" dirty="0">
                <a:solidFill>
                  <a:schemeClr val="bg1"/>
                </a:solidFill>
                <a:latin typeface="ALS Hauss Next" pitchFamily="50" charset="0"/>
              </a:rPr>
              <a:t> школы выбора профессии «Пункт Б» </a:t>
            </a:r>
          </a:p>
          <a:p>
            <a:pPr>
              <a:spcBef>
                <a:spcPts val="600"/>
              </a:spcBef>
            </a:pPr>
            <a:r>
              <a:rPr lang="ru-RU" sz="1100" dirty="0">
                <a:solidFill>
                  <a:schemeClr val="bg1"/>
                </a:solidFill>
                <a:latin typeface="ALS Hauss Next" pitchFamily="50" charset="0"/>
              </a:rPr>
              <a:t>Школа проводит занятия по профориентации </a:t>
            </a:r>
            <a:br>
              <a:rPr lang="ru-RU" sz="1100" dirty="0">
                <a:solidFill>
                  <a:schemeClr val="bg1"/>
                </a:solidFill>
                <a:latin typeface="ALS Hauss Next" pitchFamily="50" charset="0"/>
              </a:rPr>
            </a:br>
            <a:r>
              <a:rPr lang="ru-RU" sz="1100" dirty="0">
                <a:solidFill>
                  <a:schemeClr val="bg1"/>
                </a:solidFill>
                <a:latin typeface="ALS Hauss Next" pitchFamily="50" charset="0"/>
              </a:rPr>
              <a:t>для подростков и взрослых. Получатель образовательной поддержки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308" y="-74815"/>
            <a:ext cx="2452788" cy="7725388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15368" y="300538"/>
            <a:ext cx="624509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2800" b="1" dirty="0">
                <a:solidFill>
                  <a:schemeClr val="bg1"/>
                </a:solidFill>
                <a:latin typeface="ALS Hauss Next Wide" pitchFamily="50" charset="0"/>
              </a:rPr>
              <a:t>Тренды предпринимательства 2026 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29775" y="1203656"/>
            <a:ext cx="4257725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ts val="1100"/>
              <a:defRPr/>
            </a:pPr>
            <a:r>
              <a:rPr lang="ru-RU" sz="1600" b="1" spc="20" dirty="0">
                <a:solidFill>
                  <a:schemeClr val="bg1"/>
                </a:solidFill>
                <a:latin typeface="ALS Hauss Next" pitchFamily="50" charset="0"/>
              </a:rPr>
              <a:t>Устойчивость бизнес-моделей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30274" y="1529571"/>
            <a:ext cx="6288546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900"/>
              </a:spcBef>
              <a:buClr>
                <a:schemeClr val="bg1"/>
              </a:buClr>
              <a:buSzPts val="1100"/>
              <a:defRPr/>
            </a:pPr>
            <a:r>
              <a:rPr lang="ru-RU" sz="1100" spc="20" dirty="0">
                <a:solidFill>
                  <a:schemeClr val="bg1"/>
                </a:solidFill>
                <a:latin typeface="ALS Hauss Next" pitchFamily="50" charset="0"/>
              </a:rPr>
              <a:t>Повышение и оптимизация производственных процессов, в том числе за счет интеграция искусственного интеллекта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279254"/>
            <a:ext cx="290287" cy="362078"/>
          </a:xfrm>
          <a:prstGeom prst="rect">
            <a:avLst/>
          </a:prstGeom>
        </p:spPr>
      </p:pic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29776" y="2277616"/>
            <a:ext cx="3720242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ts val="1100"/>
              <a:defRPr/>
            </a:pPr>
            <a:r>
              <a:rPr lang="ru-RU" sz="1600" b="1" spc="20" dirty="0" err="1">
                <a:solidFill>
                  <a:schemeClr val="bg1"/>
                </a:solidFill>
                <a:latin typeface="ALS Hauss Next" pitchFamily="50" charset="0"/>
              </a:rPr>
              <a:t>Цифровизация</a:t>
            </a:r>
            <a:endParaRPr lang="ru-RU" sz="1600" b="1" spc="20" dirty="0">
              <a:solidFill>
                <a:schemeClr val="bg1"/>
              </a:solidFill>
              <a:latin typeface="ALS Hauss Next" pitchFamily="50" charset="0"/>
            </a:endParaRPr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2353214"/>
            <a:ext cx="290287" cy="362078"/>
          </a:xfrm>
          <a:prstGeom prst="rect">
            <a:avLst/>
          </a:prstGeom>
        </p:spPr>
      </p:pic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30275" y="2597393"/>
            <a:ext cx="5369140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900"/>
              </a:spcBef>
              <a:buClr>
                <a:schemeClr val="bg1"/>
              </a:buClr>
              <a:buSzPts val="1100"/>
              <a:defRPr/>
            </a:pPr>
            <a:r>
              <a:rPr lang="ru-RU" sz="1100" spc="20" dirty="0">
                <a:solidFill>
                  <a:schemeClr val="bg1"/>
                </a:solidFill>
                <a:latin typeface="ALS Hauss Next" pitchFamily="50" charset="0"/>
              </a:rPr>
              <a:t>CRM, аналитика и автоматизация больше не конкурентное преимущество, а обязательное условие для роста и развития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29776" y="5585516"/>
            <a:ext cx="3720242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ts val="1100"/>
              <a:defRPr/>
            </a:pPr>
            <a:r>
              <a:rPr lang="ru-RU" sz="1600" b="1" spc="20" dirty="0">
                <a:solidFill>
                  <a:schemeClr val="bg1"/>
                </a:solidFill>
                <a:latin typeface="ALS Hauss Next" pitchFamily="50" charset="0"/>
              </a:rPr>
              <a:t>Региональная экспансия</a:t>
            </a:r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5661114"/>
            <a:ext cx="290287" cy="362078"/>
          </a:xfrm>
          <a:prstGeom prst="rect">
            <a:avLst/>
          </a:prstGeom>
        </p:spPr>
      </p:pic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30274" y="5905293"/>
            <a:ext cx="6257862" cy="244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900"/>
              </a:spcBef>
              <a:buClr>
                <a:schemeClr val="bg1"/>
              </a:buClr>
              <a:buSzPts val="1100"/>
              <a:defRPr/>
            </a:pPr>
            <a:r>
              <a:rPr lang="ru-RU" sz="1100" spc="20" dirty="0">
                <a:solidFill>
                  <a:schemeClr val="bg1"/>
                </a:solidFill>
                <a:latin typeface="ALS Hauss Next" pitchFamily="50" charset="0"/>
              </a:rPr>
              <a:t>Региональные центры как зона роста московского бизнеса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29776" y="3382260"/>
            <a:ext cx="3720242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ts val="1100"/>
              <a:defRPr/>
            </a:pPr>
            <a:r>
              <a:rPr lang="ru-RU" sz="1600" b="1" spc="20" dirty="0">
                <a:solidFill>
                  <a:schemeClr val="bg1"/>
                </a:solidFill>
                <a:latin typeface="ALS Hauss Next" pitchFamily="50" charset="0"/>
              </a:rPr>
              <a:t>Качество вместо количества</a:t>
            </a: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457858"/>
            <a:ext cx="290287" cy="362078"/>
          </a:xfrm>
          <a:prstGeom prst="rect">
            <a:avLst/>
          </a:prstGeom>
        </p:spPr>
      </p:pic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30274" y="3702037"/>
            <a:ext cx="5488883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900"/>
              </a:spcBef>
              <a:buClr>
                <a:schemeClr val="bg1"/>
              </a:buClr>
              <a:buSzPts val="1100"/>
              <a:defRPr/>
            </a:pPr>
            <a:r>
              <a:rPr lang="ru-RU" sz="1100" spc="20" dirty="0">
                <a:solidFill>
                  <a:schemeClr val="bg1"/>
                </a:solidFill>
                <a:latin typeface="ALS Hauss Next" pitchFamily="50" charset="0"/>
              </a:rPr>
              <a:t>Рост сетей не столько за счет открытия новых точек, сколько путем развития действующих партнеров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29776" y="4506972"/>
            <a:ext cx="3720242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ts val="1100"/>
              <a:defRPr/>
            </a:pPr>
            <a:r>
              <a:rPr lang="en-US" sz="1600" b="1" spc="20" dirty="0">
                <a:solidFill>
                  <a:schemeClr val="bg1"/>
                </a:solidFill>
                <a:latin typeface="ALS Hauss Next" pitchFamily="50" charset="0"/>
              </a:rPr>
              <a:t>DIGITAL-</a:t>
            </a:r>
            <a:r>
              <a:rPr lang="ru-RU" sz="1600" b="1" spc="20" dirty="0">
                <a:solidFill>
                  <a:schemeClr val="bg1"/>
                </a:solidFill>
                <a:latin typeface="ALS Hauss Next" pitchFamily="50" charset="0"/>
              </a:rPr>
              <a:t>форматы</a:t>
            </a:r>
          </a:p>
        </p:txBody>
      </p:sp>
      <p:pic>
        <p:nvPicPr>
          <p:cNvPr id="41" name="Рисунок 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4582570"/>
            <a:ext cx="290287" cy="362078"/>
          </a:xfrm>
          <a:prstGeom prst="rect">
            <a:avLst/>
          </a:prstGeom>
        </p:spPr>
      </p:pic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30274" y="4826749"/>
            <a:ext cx="5516097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900"/>
              </a:spcBef>
              <a:buClr>
                <a:schemeClr val="bg1"/>
              </a:buClr>
              <a:buSzPts val="1100"/>
              <a:defRPr/>
            </a:pPr>
            <a:r>
              <a:rPr lang="ru-RU" sz="1100" spc="20" dirty="0">
                <a:solidFill>
                  <a:schemeClr val="bg1"/>
                </a:solidFill>
                <a:latin typeface="ALS Hauss Next" pitchFamily="50" charset="0"/>
              </a:rPr>
              <a:t>Рост интереса к цифровым бизнес-моделям за счет экономии на аренде, персонале и логистике, а также из-за легкости масштабирования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515851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2F72565-4C13-430A-9477-B990270A530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25" r="22822"/>
          <a:stretch/>
        </p:blipFill>
        <p:spPr>
          <a:xfrm>
            <a:off x="7838902" y="-184724"/>
            <a:ext cx="5902036" cy="7925021"/>
          </a:xfrm>
          <a:prstGeom prst="rect">
            <a:avLst/>
          </a:prstGeom>
        </p:spPr>
      </p:pic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03A0DBC-4810-C332-0D12-B56732BBC3CD}"/>
              </a:ext>
            </a:extLst>
          </p:cNvPr>
          <p:cNvSpPr/>
          <p:nvPr/>
        </p:nvSpPr>
        <p:spPr>
          <a:xfrm rot="5400000">
            <a:off x="9381847" y="3388810"/>
            <a:ext cx="2613599" cy="5728133"/>
          </a:xfrm>
          <a:prstGeom prst="rect">
            <a:avLst/>
          </a:prstGeom>
          <a:gradFill>
            <a:gsLst>
              <a:gs pos="0">
                <a:srgbClr val="0B0928"/>
              </a:gs>
              <a:gs pos="100000">
                <a:srgbClr val="0B0928">
                  <a:alpha val="0"/>
                </a:srgbClr>
              </a:gs>
            </a:gsLst>
            <a:lin ang="1080000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2947" tIns="82947" rIns="82947" bIns="82947" numCol="1" spcCol="38100" rtlCol="0" anchor="ctr">
            <a:noAutofit/>
          </a:bodyPr>
          <a:lstStyle/>
          <a:p>
            <a:pPr defTabSz="1658996"/>
            <a:endParaRPr lang="ru-RU" sz="3266"/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089B1237-1706-0387-31DD-FD2A8F8E3755}"/>
              </a:ext>
            </a:extLst>
          </p:cNvPr>
          <p:cNvSpPr txBox="1"/>
          <p:nvPr/>
        </p:nvSpPr>
        <p:spPr>
          <a:xfrm>
            <a:off x="9096374" y="5892669"/>
            <a:ext cx="3846253" cy="1296658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8179" tIns="78179" rIns="78179" bIns="78179" anchor="b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ALS Hauss Next Wide" pitchFamily="50" charset="0"/>
              </a:rPr>
              <a:t>Алексей Ермилин</a:t>
            </a:r>
            <a:br>
              <a:rPr lang="ru-RU" sz="1400" dirty="0">
                <a:solidFill>
                  <a:schemeClr val="bg1"/>
                </a:solidFill>
                <a:latin typeface="ALS Hauss Next Wide" pitchFamily="50" charset="0"/>
              </a:rPr>
            </a:br>
            <a:r>
              <a:rPr lang="ru-RU" sz="1100" b="1" dirty="0">
                <a:solidFill>
                  <a:schemeClr val="bg1"/>
                </a:solidFill>
                <a:latin typeface="ALS Hauss Next" pitchFamily="50" charset="0"/>
              </a:rPr>
              <a:t>Генеральный директор компании «</a:t>
            </a:r>
            <a:r>
              <a:rPr lang="ru-RU" sz="1100" b="1" dirty="0" err="1">
                <a:solidFill>
                  <a:schemeClr val="bg1"/>
                </a:solidFill>
                <a:latin typeface="ALS Hauss Next" pitchFamily="50" charset="0"/>
              </a:rPr>
              <a:t>Микс</a:t>
            </a:r>
            <a:r>
              <a:rPr lang="ru-RU" sz="1100" b="1" dirty="0">
                <a:solidFill>
                  <a:schemeClr val="bg1"/>
                </a:solidFill>
                <a:latin typeface="ALS Hauss Next" pitchFamily="50" charset="0"/>
              </a:rPr>
              <a:t> Карт», основатель сети картинг-центров</a:t>
            </a:r>
          </a:p>
          <a:p>
            <a:endParaRPr lang="ru-RU" sz="1100" b="1" dirty="0">
              <a:solidFill>
                <a:schemeClr val="bg1"/>
              </a:solidFill>
              <a:latin typeface="ALS Hauss Next" pitchFamily="50" charset="0"/>
            </a:endParaRPr>
          </a:p>
          <a:p>
            <a:pPr>
              <a:spcBef>
                <a:spcPts val="600"/>
              </a:spcBef>
            </a:pPr>
            <a:r>
              <a:rPr lang="ru-RU" sz="1100" dirty="0">
                <a:solidFill>
                  <a:schemeClr val="bg1"/>
                </a:solidFill>
                <a:latin typeface="ALS Hauss Next" pitchFamily="50" charset="0"/>
              </a:rPr>
              <a:t>Привлек финансирование при поддержке </a:t>
            </a:r>
            <a:r>
              <a:rPr lang="ru-RU" sz="1100" dirty="0" err="1">
                <a:solidFill>
                  <a:schemeClr val="bg1"/>
                </a:solidFill>
                <a:latin typeface="ALS Hauss Next" pitchFamily="50" charset="0"/>
              </a:rPr>
              <a:t>Мосгарантфонда</a:t>
            </a:r>
            <a:r>
              <a:rPr lang="ru-RU" sz="1100" dirty="0">
                <a:solidFill>
                  <a:schemeClr val="bg1"/>
                </a:solidFill>
                <a:latin typeface="ALS Hauss Next" pitchFamily="50" charset="0"/>
              </a:rPr>
              <a:t> для развития и расширения производственной базы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308" y="-74815"/>
            <a:ext cx="2452788" cy="7725388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315368" y="300538"/>
            <a:ext cx="624509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2800" b="1" dirty="0">
                <a:solidFill>
                  <a:schemeClr val="bg1"/>
                </a:solidFill>
                <a:latin typeface="ALS Hauss Next Wide" pitchFamily="50" charset="0"/>
              </a:rPr>
              <a:t>Вызовы для предпринимателей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29775" y="1203656"/>
            <a:ext cx="4257725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ts val="1100"/>
              <a:defRPr/>
            </a:pPr>
            <a:r>
              <a:rPr lang="ru-RU" sz="1600" b="1" spc="20" dirty="0">
                <a:solidFill>
                  <a:schemeClr val="bg1"/>
                </a:solidFill>
                <a:latin typeface="ALS Hauss Next" pitchFamily="50" charset="0"/>
              </a:rPr>
              <a:t>Налоговая реформа 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30274" y="1529571"/>
            <a:ext cx="6288546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900"/>
              </a:spcBef>
              <a:buClr>
                <a:schemeClr val="bg1"/>
              </a:buClr>
              <a:buSzPts val="1100"/>
              <a:defRPr/>
            </a:pPr>
            <a:r>
              <a:rPr lang="ru-RU" sz="1100" spc="20" dirty="0">
                <a:solidFill>
                  <a:schemeClr val="bg1"/>
                </a:solidFill>
                <a:latin typeface="ALS Hauss Next" pitchFamily="50" charset="0"/>
              </a:rPr>
              <a:t>Изменения НДС, а также ставок страховых взносов вынуждают перестраивать бизнес-модель и повышать цены на товары, работы, услуги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279254"/>
            <a:ext cx="290287" cy="362078"/>
          </a:xfrm>
          <a:prstGeom prst="rect">
            <a:avLst/>
          </a:prstGeom>
        </p:spPr>
      </p:pic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29776" y="2277616"/>
            <a:ext cx="3720242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ts val="1100"/>
              <a:defRPr/>
            </a:pPr>
            <a:r>
              <a:rPr lang="ru-RU" sz="1600" b="1" spc="20" dirty="0">
                <a:solidFill>
                  <a:schemeClr val="bg1"/>
                </a:solidFill>
                <a:latin typeface="ALS Hauss Next" pitchFamily="50" charset="0"/>
              </a:rPr>
              <a:t>Высокая ключевая ставка</a:t>
            </a:r>
          </a:p>
        </p:txBody>
      </p:sp>
      <p:pic>
        <p:nvPicPr>
          <p:cNvPr id="31" name="Рисунок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2353214"/>
            <a:ext cx="290287" cy="362078"/>
          </a:xfrm>
          <a:prstGeom prst="rect">
            <a:avLst/>
          </a:prstGeom>
        </p:spPr>
      </p:pic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30275" y="2597393"/>
            <a:ext cx="5369140" cy="54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900"/>
              </a:spcBef>
              <a:buClr>
                <a:schemeClr val="bg1"/>
              </a:buClr>
              <a:buSzPts val="1100"/>
              <a:defRPr/>
            </a:pPr>
            <a:r>
              <a:rPr lang="ru-RU" sz="1100" spc="20" dirty="0">
                <a:solidFill>
                  <a:schemeClr val="bg1"/>
                </a:solidFill>
                <a:latin typeface="ALS Hauss Next" pitchFamily="50" charset="0"/>
              </a:rPr>
              <a:t>Дорогие деньги ограничили возможности МСП по масштабированию деятельности, обновлению оборудования и запуску новых проектов, напрямую сдерживая рост выручки 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29775" y="5585516"/>
            <a:ext cx="5890111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ts val="1100"/>
              <a:defRPr/>
            </a:pPr>
            <a:r>
              <a:rPr lang="ru-RU" sz="1600" b="1" spc="20" dirty="0">
                <a:solidFill>
                  <a:schemeClr val="bg1"/>
                </a:solidFill>
                <a:latin typeface="ALS Hauss Next" pitchFamily="50" charset="0"/>
              </a:rPr>
              <a:t>Увеличение доли наличных расчетов и рост теневого сектора</a:t>
            </a:r>
          </a:p>
        </p:txBody>
      </p:sp>
      <p:pic>
        <p:nvPicPr>
          <p:cNvPr id="35" name="Рисунок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5661114"/>
            <a:ext cx="290287" cy="362078"/>
          </a:xfrm>
          <a:prstGeom prst="rect">
            <a:avLst/>
          </a:prstGeom>
        </p:spPr>
      </p:pic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30274" y="5905293"/>
            <a:ext cx="6257862" cy="54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900"/>
              </a:spcBef>
              <a:buClr>
                <a:schemeClr val="bg1"/>
              </a:buClr>
              <a:buSzPts val="1100"/>
              <a:defRPr/>
            </a:pPr>
            <a:r>
              <a:rPr lang="ru-RU" sz="1100" spc="20" dirty="0">
                <a:solidFill>
                  <a:schemeClr val="bg1"/>
                </a:solidFill>
                <a:latin typeface="ALS Hauss Next" pitchFamily="50" charset="0"/>
              </a:rPr>
              <a:t>Рост наличного оборота приводит к уходу субъектов МСП из официального учета: растет распространенность практик «скидки без чека», неполного пробития суммы, фиктивных возвратов 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29775" y="3382260"/>
            <a:ext cx="5592489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ts val="1100"/>
              <a:defRPr/>
            </a:pPr>
            <a:r>
              <a:rPr lang="ru-RU" sz="1600" b="1" spc="20" dirty="0">
                <a:solidFill>
                  <a:schemeClr val="bg1"/>
                </a:solidFill>
                <a:latin typeface="ALS Hauss Next" pitchFamily="50" charset="0"/>
              </a:rPr>
              <a:t>Переход населения к сберегательной модели поведения</a:t>
            </a: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457858"/>
            <a:ext cx="290287" cy="362078"/>
          </a:xfrm>
          <a:prstGeom prst="rect">
            <a:avLst/>
          </a:prstGeom>
        </p:spPr>
      </p:pic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30274" y="3702037"/>
            <a:ext cx="5488883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900"/>
              </a:spcBef>
              <a:buClr>
                <a:schemeClr val="bg1"/>
              </a:buClr>
              <a:buSzPts val="1100"/>
              <a:defRPr/>
            </a:pPr>
            <a:r>
              <a:rPr lang="ru-RU" sz="1100" spc="20" dirty="0">
                <a:solidFill>
                  <a:schemeClr val="bg1"/>
                </a:solidFill>
                <a:latin typeface="ALS Hauss Next" pitchFamily="50" charset="0"/>
              </a:rPr>
              <a:t>Формируется новая потребительская модель, характеризующаяся снижением покупательской активности и целенаправленной оптимизацией расходов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29775" y="4506972"/>
            <a:ext cx="5008647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600"/>
              </a:spcBef>
              <a:buClr>
                <a:schemeClr val="bg1"/>
              </a:buClr>
              <a:buSzPts val="1100"/>
              <a:defRPr/>
            </a:pPr>
            <a:r>
              <a:rPr lang="ru-RU" sz="1600" b="1" spc="20" dirty="0">
                <a:solidFill>
                  <a:schemeClr val="bg1"/>
                </a:solidFill>
                <a:latin typeface="ALS Hauss Next" pitchFamily="50" charset="0"/>
              </a:rPr>
              <a:t>Изменение потребительских принципов</a:t>
            </a:r>
          </a:p>
        </p:txBody>
      </p:sp>
      <p:pic>
        <p:nvPicPr>
          <p:cNvPr id="41" name="Рисунок 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4582570"/>
            <a:ext cx="290287" cy="362078"/>
          </a:xfrm>
          <a:prstGeom prst="rect">
            <a:avLst/>
          </a:prstGeom>
        </p:spPr>
      </p:pic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D31EF1A6-083D-4D1B-A4E9-25E03398741C}"/>
              </a:ext>
            </a:extLst>
          </p:cNvPr>
          <p:cNvSpPr/>
          <p:nvPr/>
        </p:nvSpPr>
        <p:spPr>
          <a:xfrm>
            <a:off x="830274" y="4826749"/>
            <a:ext cx="5516097" cy="54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900"/>
              </a:spcBef>
              <a:buClr>
                <a:schemeClr val="bg1"/>
              </a:buClr>
              <a:buSzPts val="1100"/>
              <a:defRPr/>
            </a:pPr>
            <a:r>
              <a:rPr lang="ru-RU" sz="1100" spc="20" dirty="0">
                <a:solidFill>
                  <a:schemeClr val="bg1"/>
                </a:solidFill>
                <a:latin typeface="ALS Hauss Next" pitchFamily="50" charset="0"/>
              </a:rPr>
              <a:t>Под влиянием цифровизации розничной торговли и изменения покупательского поведения происходит устойчивое перераспределение товарных потоков в пользу </a:t>
            </a:r>
            <a:r>
              <a:rPr lang="ru-RU" sz="1100" spc="20" dirty="0" err="1">
                <a:solidFill>
                  <a:schemeClr val="bg1"/>
                </a:solidFill>
                <a:latin typeface="ALS Hauss Next" pitchFamily="50" charset="0"/>
              </a:rPr>
              <a:t>маркетплейсов</a:t>
            </a:r>
            <a:endParaRPr lang="ru-RU" sz="1100" spc="20" dirty="0">
              <a:solidFill>
                <a:schemeClr val="bg1"/>
              </a:solidFill>
              <a:latin typeface="ALS Hauss Nex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676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168" y="-695894"/>
            <a:ext cx="5970546" cy="8255570"/>
          </a:xfrm>
          <a:prstGeom prst="rect">
            <a:avLst/>
          </a:prstGeom>
        </p:spPr>
      </p:pic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03A0DBC-4810-C332-0D12-B56732BBC3CD}"/>
              </a:ext>
            </a:extLst>
          </p:cNvPr>
          <p:cNvSpPr/>
          <p:nvPr/>
        </p:nvSpPr>
        <p:spPr>
          <a:xfrm rot="5400000">
            <a:off x="9243793" y="3250757"/>
            <a:ext cx="2889705" cy="5728133"/>
          </a:xfrm>
          <a:prstGeom prst="rect">
            <a:avLst/>
          </a:prstGeom>
          <a:gradFill>
            <a:gsLst>
              <a:gs pos="0">
                <a:srgbClr val="0B0928"/>
              </a:gs>
              <a:gs pos="100000">
                <a:srgbClr val="0B0928">
                  <a:alpha val="0"/>
                </a:srgbClr>
              </a:gs>
            </a:gsLst>
            <a:lin ang="1080000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2947" tIns="82947" rIns="82947" bIns="82947" numCol="1" spcCol="38100" rtlCol="0" anchor="ctr">
            <a:noAutofit/>
          </a:bodyPr>
          <a:lstStyle/>
          <a:p>
            <a:pPr defTabSz="1658996"/>
            <a:endParaRPr lang="ru-RU" sz="3266"/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089B1237-1706-0387-31DD-FD2A8F8E3755}"/>
              </a:ext>
            </a:extLst>
          </p:cNvPr>
          <p:cNvSpPr txBox="1"/>
          <p:nvPr/>
        </p:nvSpPr>
        <p:spPr>
          <a:xfrm>
            <a:off x="9058498" y="5734725"/>
            <a:ext cx="3772131" cy="1465935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8179" tIns="78179" rIns="78179" bIns="78179" anchor="b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ALS Hauss Next Wide" pitchFamily="50" charset="0"/>
              </a:rPr>
              <a:t>Игорь Гришин </a:t>
            </a:r>
            <a:br>
              <a:rPr lang="ru-RU" sz="1400" dirty="0">
                <a:solidFill>
                  <a:schemeClr val="bg1"/>
                </a:solidFill>
                <a:latin typeface="ALS Hauss Next Wide" pitchFamily="50" charset="0"/>
              </a:rPr>
            </a:br>
            <a:r>
              <a:rPr lang="ru-RU" sz="1100" b="1" dirty="0">
                <a:solidFill>
                  <a:schemeClr val="bg1"/>
                </a:solidFill>
                <a:latin typeface="ALS Hauss Next" pitchFamily="50" charset="0"/>
              </a:rPr>
              <a:t>Директор ООО «</a:t>
            </a:r>
            <a:r>
              <a:rPr lang="ru-RU" sz="1100" b="1" dirty="0" err="1">
                <a:solidFill>
                  <a:schemeClr val="bg1"/>
                </a:solidFill>
                <a:latin typeface="ALS Hauss Next" pitchFamily="50" charset="0"/>
              </a:rPr>
              <a:t>Лакса</a:t>
            </a:r>
            <a:r>
              <a:rPr lang="ru-RU" sz="1100" b="1" dirty="0">
                <a:solidFill>
                  <a:schemeClr val="bg1"/>
                </a:solidFill>
                <a:latin typeface="ALS Hauss Next" pitchFamily="50" charset="0"/>
              </a:rPr>
              <a:t> </a:t>
            </a:r>
            <a:r>
              <a:rPr lang="ru-RU" sz="1100" b="1" dirty="0" err="1">
                <a:solidFill>
                  <a:schemeClr val="bg1"/>
                </a:solidFill>
                <a:latin typeface="ALS Hauss Next" pitchFamily="50" charset="0"/>
              </a:rPr>
              <a:t>Трейдинг</a:t>
            </a:r>
            <a:r>
              <a:rPr lang="ru-RU" sz="1100" b="1" dirty="0">
                <a:solidFill>
                  <a:schemeClr val="bg1"/>
                </a:solidFill>
                <a:latin typeface="ALS Hauss Next" pitchFamily="50" charset="0"/>
              </a:rPr>
              <a:t>», официальный партнер ювелирного бренда SOKOLOV, входящим </a:t>
            </a:r>
            <a:br>
              <a:rPr lang="en-US" sz="1100" b="1" dirty="0">
                <a:solidFill>
                  <a:schemeClr val="bg1"/>
                </a:solidFill>
                <a:latin typeface="ALS Hauss Next" pitchFamily="50" charset="0"/>
              </a:rPr>
            </a:br>
            <a:r>
              <a:rPr lang="ru-RU" sz="1100" b="1" dirty="0">
                <a:solidFill>
                  <a:schemeClr val="bg1"/>
                </a:solidFill>
                <a:latin typeface="ALS Hauss Next" pitchFamily="50" charset="0"/>
              </a:rPr>
              <a:t>в структуру холдинга </a:t>
            </a:r>
          </a:p>
          <a:p>
            <a:pPr>
              <a:spcBef>
                <a:spcPts val="600"/>
              </a:spcBef>
            </a:pPr>
            <a:r>
              <a:rPr lang="ru-RU" sz="1100" dirty="0">
                <a:solidFill>
                  <a:schemeClr val="bg1"/>
                </a:solidFill>
                <a:latin typeface="ALS Hauss Next" pitchFamily="50" charset="0"/>
              </a:rPr>
              <a:t>Получает поддержку города для продвижения московского бизнеса в Малайзии, КНР, Египте, Индии, ОАЭ и Вьетнаме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308" y="-74815"/>
            <a:ext cx="2452788" cy="7725388"/>
          </a:xfrm>
          <a:prstGeom prst="rect">
            <a:avLst/>
          </a:prstGeom>
        </p:spPr>
      </p:pic>
      <p:graphicFrame>
        <p:nvGraphicFramePr>
          <p:cNvPr id="26" name="Диаграмма 25">
            <a:extLst>
              <a:ext uri="{FF2B5EF4-FFF2-40B4-BE49-F238E27FC236}">
                <a16:creationId xmlns:a16="http://schemas.microsoft.com/office/drawing/2014/main" id="{A798873A-1CC5-400B-BC4C-1EE1EB438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9550384"/>
              </p:ext>
            </p:extLst>
          </p:nvPr>
        </p:nvGraphicFramePr>
        <p:xfrm>
          <a:off x="525993" y="1091124"/>
          <a:ext cx="2910590" cy="2404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7" name="Диаграмма 46">
            <a:extLst>
              <a:ext uri="{FF2B5EF4-FFF2-40B4-BE49-F238E27FC236}">
                <a16:creationId xmlns:a16="http://schemas.microsoft.com/office/drawing/2014/main" id="{7352FA9A-CF1A-43EE-9CE6-8B6F544B4B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1220687"/>
              </p:ext>
            </p:extLst>
          </p:nvPr>
        </p:nvGraphicFramePr>
        <p:xfrm>
          <a:off x="525993" y="3979712"/>
          <a:ext cx="2910590" cy="2404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Прямоугольник 9"/>
          <p:cNvSpPr/>
          <p:nvPr/>
        </p:nvSpPr>
        <p:spPr>
          <a:xfrm>
            <a:off x="315368" y="300538"/>
            <a:ext cx="7696518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2800" b="1" dirty="0">
                <a:solidFill>
                  <a:schemeClr val="bg1"/>
                </a:solidFill>
                <a:latin typeface="ALS Hauss Next Wide" pitchFamily="50" charset="0"/>
              </a:rPr>
              <a:t>Развиваем предпринимательство</a:t>
            </a:r>
          </a:p>
        </p:txBody>
      </p:sp>
      <p:sp>
        <p:nvSpPr>
          <p:cNvPr id="39" name="name_922  138   16 141   2024">
            <a:extLst>
              <a:ext uri="{FF2B5EF4-FFF2-40B4-BE49-F238E27FC236}">
                <a16:creationId xmlns:a16="http://schemas.microsoft.com/office/drawing/2014/main" id="{4151405C-F4D1-4B40-972C-0B8213626509}"/>
              </a:ext>
            </a:extLst>
          </p:cNvPr>
          <p:cNvSpPr/>
          <p:nvPr/>
        </p:nvSpPr>
        <p:spPr>
          <a:xfrm>
            <a:off x="657392" y="1443892"/>
            <a:ext cx="1671198" cy="1187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Каждый</a:t>
            </a:r>
            <a:r>
              <a:rPr lang="ru-RU" sz="1400" b="1" dirty="0">
                <a:solidFill>
                  <a:schemeClr val="bg1"/>
                </a:solidFill>
                <a:latin typeface="Cera Pro" panose="00000500000000000000" pitchFamily="2" charset="0"/>
                <a:ea typeface="Druk Wide Medium Cy Medium" pitchFamily="34" charset="-122"/>
                <a:cs typeface="Druk Wide Medium Cy Medium" pitchFamily="34" charset="-120"/>
              </a:rPr>
              <a:t> </a:t>
            </a:r>
          </a:p>
          <a:p>
            <a:r>
              <a:rPr lang="ru-RU" sz="3200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11</a:t>
            </a:r>
            <a:r>
              <a:rPr lang="ru-RU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-й</a:t>
            </a:r>
            <a:r>
              <a:rPr lang="ru-RU" dirty="0">
                <a:solidFill>
                  <a:schemeClr val="bg1"/>
                </a:solidFill>
                <a:latin typeface="Druk Wide Medium Cy" pitchFamily="2" charset="0"/>
                <a:ea typeface="Druk Wide Medium Cy Medium" pitchFamily="34" charset="-122"/>
                <a:cs typeface="Druk Wide Medium Cy Medium" pitchFamily="34" charset="-120"/>
              </a:rPr>
              <a:t> </a:t>
            </a:r>
            <a:endParaRPr lang="en-US" sz="1400" dirty="0">
              <a:solidFill>
                <a:schemeClr val="bg1"/>
              </a:solidFill>
              <a:latin typeface="Druk Wide Medium Cy" pitchFamily="2" charset="0"/>
            </a:endParaRPr>
          </a:p>
        </p:txBody>
      </p:sp>
      <p:sp>
        <p:nvSpPr>
          <p:cNvPr id="40" name="name_922  138   16 141   2024">
            <a:extLst>
              <a:ext uri="{FF2B5EF4-FFF2-40B4-BE49-F238E27FC236}">
                <a16:creationId xmlns:a16="http://schemas.microsoft.com/office/drawing/2014/main" id="{4151405C-F4D1-4B40-972C-0B8213626509}"/>
              </a:ext>
            </a:extLst>
          </p:cNvPr>
          <p:cNvSpPr/>
          <p:nvPr/>
        </p:nvSpPr>
        <p:spPr>
          <a:xfrm>
            <a:off x="657392" y="4250558"/>
            <a:ext cx="2252626" cy="1187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b="1" dirty="0">
                <a:solidFill>
                  <a:schemeClr val="bg1"/>
                </a:solidFill>
                <a:latin typeface="ALS Hauss Next" pitchFamily="50" charset="0"/>
                <a:ea typeface="Druk Wide Medium Cy Medium" pitchFamily="34" charset="-122"/>
                <a:cs typeface="Druk Wide Medium Cy Medium" pitchFamily="34" charset="-120"/>
              </a:rPr>
              <a:t>Каждая</a:t>
            </a:r>
            <a:r>
              <a:rPr lang="ru-RU" sz="1400" b="1" dirty="0">
                <a:solidFill>
                  <a:schemeClr val="bg1"/>
                </a:solidFill>
                <a:latin typeface="Cera Pro" panose="00000500000000000000" pitchFamily="2" charset="0"/>
                <a:ea typeface="Druk Wide Medium Cy Medium" pitchFamily="34" charset="-122"/>
                <a:cs typeface="Druk Wide Medium Cy Medium" pitchFamily="34" charset="-120"/>
              </a:rPr>
              <a:t> </a:t>
            </a:r>
          </a:p>
          <a:p>
            <a:r>
              <a:rPr lang="ru-RU" sz="3200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11</a:t>
            </a:r>
            <a:r>
              <a:rPr lang="ru-RU" b="1" dirty="0">
                <a:solidFill>
                  <a:schemeClr val="bg1"/>
                </a:solidFill>
                <a:latin typeface="ALS Hauss Next Wide" pitchFamily="50" charset="0"/>
                <a:ea typeface="Druk Wide Medium Cy Medium" pitchFamily="34" charset="-122"/>
                <a:cs typeface="Druk Wide Medium Cy Medium" pitchFamily="34" charset="-120"/>
              </a:rPr>
              <a:t>-я</a:t>
            </a:r>
            <a:endParaRPr lang="en-US" sz="1400" b="1" dirty="0">
              <a:solidFill>
                <a:schemeClr val="bg1"/>
              </a:solidFill>
              <a:latin typeface="ALS Hauss Next Wide" pitchFamily="50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4B679D-6F11-44B8-9FC1-D48E34CC7A59}"/>
              </a:ext>
            </a:extLst>
          </p:cNvPr>
          <p:cNvSpPr txBox="1"/>
          <p:nvPr/>
        </p:nvSpPr>
        <p:spPr>
          <a:xfrm>
            <a:off x="598554" y="4841469"/>
            <a:ext cx="1970475" cy="8156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00000"/>
              </a:buClr>
              <a:buSzTx/>
              <a:buFontTx/>
              <a:buNone/>
              <a:tabLst/>
              <a:defRPr/>
            </a:pPr>
            <a:r>
              <a:rPr lang="ru-RU" sz="1400" dirty="0">
                <a:solidFill>
                  <a:schemeClr val="bg1"/>
                </a:solidFill>
                <a:latin typeface="ALS Hauss Next" pitchFamily="50" charset="0"/>
                <a:cs typeface="Helvetica"/>
              </a:rPr>
              <a:t>компания создаётся </a:t>
            </a:r>
            <a:br>
              <a:rPr lang="ru-RU" sz="1400" dirty="0">
                <a:solidFill>
                  <a:schemeClr val="bg1"/>
                </a:solidFill>
                <a:latin typeface="ALS Hauss Next" pitchFamily="50" charset="0"/>
                <a:cs typeface="Helvetica"/>
              </a:rPr>
            </a:br>
            <a:r>
              <a:rPr lang="ru-RU" sz="1400" dirty="0">
                <a:solidFill>
                  <a:schemeClr val="bg1"/>
                </a:solidFill>
                <a:latin typeface="ALS Hauss Next" pitchFamily="50" charset="0"/>
                <a:cs typeface="Helvetica"/>
              </a:rPr>
              <a:t>при поддержке </a:t>
            </a:r>
            <a:br>
              <a:rPr lang="ru-RU" sz="1400" dirty="0">
                <a:solidFill>
                  <a:schemeClr val="bg1"/>
                </a:solidFill>
                <a:latin typeface="ALS Hauss Next" pitchFamily="50" charset="0"/>
                <a:cs typeface="Helvetica"/>
              </a:rPr>
            </a:br>
            <a:r>
              <a:rPr lang="ru-RU" sz="1400" dirty="0">
                <a:solidFill>
                  <a:schemeClr val="bg1"/>
                </a:solidFill>
                <a:latin typeface="ALS Hauss Next" pitchFamily="50" charset="0"/>
                <a:cs typeface="Helvetica"/>
              </a:rPr>
              <a:t>города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4B679D-6F11-44B8-9FC1-D48E34CC7A59}"/>
              </a:ext>
            </a:extLst>
          </p:cNvPr>
          <p:cNvSpPr txBox="1"/>
          <p:nvPr/>
        </p:nvSpPr>
        <p:spPr>
          <a:xfrm>
            <a:off x="603103" y="2014651"/>
            <a:ext cx="2091984" cy="6001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lvl="0">
              <a:spcBef>
                <a:spcPts val="600"/>
              </a:spcBef>
              <a:buClr>
                <a:srgbClr val="C00000"/>
              </a:buClr>
              <a:defRPr/>
            </a:pPr>
            <a:r>
              <a:rPr lang="ru-RU" sz="1400" dirty="0">
                <a:solidFill>
                  <a:schemeClr val="bg1"/>
                </a:solidFill>
                <a:latin typeface="ALS Hauss Next" pitchFamily="50" charset="0"/>
              </a:rPr>
              <a:t>МСП охвачен </a:t>
            </a:r>
            <a:br>
              <a:rPr lang="ru-RU" sz="1400" dirty="0">
                <a:solidFill>
                  <a:schemeClr val="bg1"/>
                </a:solidFill>
                <a:latin typeface="ALS Hauss Next" pitchFamily="50" charset="0"/>
              </a:rPr>
            </a:br>
            <a:r>
              <a:rPr lang="ru-RU" sz="1400" dirty="0">
                <a:solidFill>
                  <a:schemeClr val="bg1"/>
                </a:solidFill>
                <a:latin typeface="ALS Hauss Next" pitchFamily="50" charset="0"/>
              </a:rPr>
              <a:t>мерами поддержки</a:t>
            </a:r>
          </a:p>
        </p:txBody>
      </p:sp>
      <p:sp>
        <p:nvSpPr>
          <p:cNvPr id="43" name="Rectangle 14"/>
          <p:cNvSpPr txBox="1"/>
          <p:nvPr/>
        </p:nvSpPr>
        <p:spPr>
          <a:xfrm>
            <a:off x="3919691" y="2136044"/>
            <a:ext cx="2974595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993300">
              <a:defRPr sz="1300">
                <a:latin typeface="CeraPro-Regular"/>
                <a:ea typeface="CeraPro-Regular"/>
                <a:cs typeface="CeraPro-Regular"/>
                <a:sym typeface="CeraPro-Regular"/>
              </a:defRPr>
            </a:lvl1pPr>
          </a:lstStyle>
          <a:p>
            <a:r>
              <a:rPr lang="ru-RU" sz="1400" dirty="0">
                <a:solidFill>
                  <a:schemeClr val="bg1"/>
                </a:solidFill>
                <a:latin typeface="ALS Hauss Next" pitchFamily="50" charset="0"/>
              </a:rPr>
              <a:t>субъектов МСП получают поддержку от города ежегодно</a:t>
            </a:r>
          </a:p>
        </p:txBody>
      </p:sp>
      <p:sp>
        <p:nvSpPr>
          <p:cNvPr id="44" name="object 64">
            <a:extLst>
              <a:ext uri="{FF2B5EF4-FFF2-40B4-BE49-F238E27FC236}">
                <a16:creationId xmlns:a16="http://schemas.microsoft.com/office/drawing/2014/main" id="{873F8E5A-9B5D-8B48-8E39-4A57EAD5A102}"/>
              </a:ext>
            </a:extLst>
          </p:cNvPr>
          <p:cNvSpPr txBox="1"/>
          <p:nvPr/>
        </p:nvSpPr>
        <p:spPr>
          <a:xfrm>
            <a:off x="3911600" y="1594403"/>
            <a:ext cx="2190224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indent="12695">
              <a:spcBef>
                <a:spcPts val="100"/>
              </a:spcBef>
              <a:defRPr sz="1200">
                <a:solidFill>
                  <a:srgbClr val="FFFFFF"/>
                </a:solidFill>
                <a:latin typeface="Druk Wide Cy"/>
                <a:ea typeface="Druk Wide Cy"/>
                <a:cs typeface="Druk Wide Cy"/>
                <a:sym typeface="Druk Wide Cy"/>
              </a:defRPr>
            </a:pPr>
            <a:r>
              <a:rPr lang="ru-RU" sz="3200" b="1" dirty="0">
                <a:solidFill>
                  <a:schemeClr val="bg1"/>
                </a:solidFill>
                <a:latin typeface="ALS Hauss Next Wide" pitchFamily="50" charset="0"/>
              </a:rPr>
              <a:t>&gt;80 </a:t>
            </a:r>
            <a:r>
              <a:rPr lang="ru-RU" sz="1900" b="1" dirty="0">
                <a:solidFill>
                  <a:schemeClr val="bg1"/>
                </a:solidFill>
                <a:latin typeface="ALS Hauss Next Wide" pitchFamily="50" charset="0"/>
              </a:rPr>
              <a:t>тыс.</a:t>
            </a:r>
          </a:p>
        </p:txBody>
      </p:sp>
      <p:sp>
        <p:nvSpPr>
          <p:cNvPr id="45" name="Rectangle 14"/>
          <p:cNvSpPr txBox="1"/>
          <p:nvPr/>
        </p:nvSpPr>
        <p:spPr>
          <a:xfrm>
            <a:off x="3919690" y="4934238"/>
            <a:ext cx="2684309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 defTabSz="993300">
              <a:defRPr sz="1300">
                <a:latin typeface="CeraPro-Regular"/>
                <a:ea typeface="CeraPro-Regular"/>
                <a:cs typeface="CeraPro-Regular"/>
                <a:sym typeface="CeraPro-Regular"/>
              </a:defRPr>
            </a:lvl1pPr>
          </a:lstStyle>
          <a:p>
            <a:r>
              <a:rPr lang="ru-RU" sz="1400" dirty="0">
                <a:solidFill>
                  <a:schemeClr val="bg1"/>
                </a:solidFill>
                <a:latin typeface="ALS Hauss Next" pitchFamily="50" charset="0"/>
              </a:rPr>
              <a:t>МСП создаются при поддержке города ежегодно</a:t>
            </a:r>
          </a:p>
        </p:txBody>
      </p:sp>
      <p:sp>
        <p:nvSpPr>
          <p:cNvPr id="46" name="object 64">
            <a:extLst>
              <a:ext uri="{FF2B5EF4-FFF2-40B4-BE49-F238E27FC236}">
                <a16:creationId xmlns:a16="http://schemas.microsoft.com/office/drawing/2014/main" id="{873F8E5A-9B5D-8B48-8E39-4A57EAD5A102}"/>
              </a:ext>
            </a:extLst>
          </p:cNvPr>
          <p:cNvSpPr txBox="1"/>
          <p:nvPr/>
        </p:nvSpPr>
        <p:spPr>
          <a:xfrm>
            <a:off x="3911600" y="4392597"/>
            <a:ext cx="2190224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indent="12695">
              <a:spcBef>
                <a:spcPts val="100"/>
              </a:spcBef>
              <a:defRPr sz="1200">
                <a:solidFill>
                  <a:srgbClr val="FFFFFF"/>
                </a:solidFill>
                <a:latin typeface="Druk Wide Cy"/>
                <a:ea typeface="Druk Wide Cy"/>
                <a:cs typeface="Druk Wide Cy"/>
                <a:sym typeface="Druk Wide Cy"/>
              </a:defRPr>
            </a:pPr>
            <a:r>
              <a:rPr lang="ru-RU" sz="3200" b="1" dirty="0">
                <a:solidFill>
                  <a:schemeClr val="bg1"/>
                </a:solidFill>
                <a:latin typeface="ALS Hauss Next Wide" pitchFamily="50" charset="0"/>
              </a:rPr>
              <a:t>&gt;14 </a:t>
            </a:r>
            <a:r>
              <a:rPr lang="ru-RU" sz="1900" b="1" dirty="0">
                <a:solidFill>
                  <a:schemeClr val="bg1"/>
                </a:solidFill>
                <a:latin typeface="ALS Hauss Next Wide" pitchFamily="50" charset="0"/>
              </a:rPr>
              <a:t>тыс.</a:t>
            </a:r>
          </a:p>
        </p:txBody>
      </p:sp>
    </p:spTree>
    <p:extLst>
      <p:ext uri="{BB962C8B-B14F-4D97-AF65-F5344CB8AC3E}">
        <p14:creationId xmlns:p14="http://schemas.microsoft.com/office/powerpoint/2010/main" val="18204408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1320</TotalTime>
  <Words>430</Words>
  <Application>Microsoft Office PowerPoint</Application>
  <PresentationFormat>Произвольный</PresentationFormat>
  <Paragraphs>57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8" baseType="lpstr">
      <vt:lpstr>ALS Hauss Next</vt:lpstr>
      <vt:lpstr>ALS Hauss Next Wide</vt:lpstr>
      <vt:lpstr>Arial</vt:lpstr>
      <vt:lpstr>Calibri</vt:lpstr>
      <vt:lpstr>Calibri Light</vt:lpstr>
      <vt:lpstr>Cera Pro</vt:lpstr>
      <vt:lpstr>Cera Pro</vt:lpstr>
      <vt:lpstr>Cera Pro Regular</vt:lpstr>
      <vt:lpstr>CeraPro-Regular</vt:lpstr>
      <vt:lpstr>Druk Wide Cy</vt:lpstr>
      <vt:lpstr>Druk Wide Medium Cy</vt:lpstr>
      <vt:lpstr>Druk Wide Medium Cy Medium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DIT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Кривошеева Елена Владимировна</dc:creator>
  <cp:lastModifiedBy>Спиченкова Яна Алексеевна</cp:lastModifiedBy>
  <cp:revision>161</cp:revision>
  <dcterms:created xsi:type="dcterms:W3CDTF">2026-05-15T09:30:51Z</dcterms:created>
  <dcterms:modified xsi:type="dcterms:W3CDTF">2026-06-17T12:10:19Z</dcterms:modified>
</cp:coreProperties>
</file>