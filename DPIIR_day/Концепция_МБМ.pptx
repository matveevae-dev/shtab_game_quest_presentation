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0" r:id="rId1"/>
  </p:sldMasterIdLst>
  <p:notesMasterIdLst>
    <p:notesMasterId r:id="rId5"/>
  </p:notesMasterIdLst>
  <p:sldIdLst>
    <p:sldId id="285" r:id="rId2"/>
    <p:sldId id="286" r:id="rId3"/>
    <p:sldId id="289" r:id="rId4"/>
  </p:sldIdLst>
  <p:sldSz cx="10799763" cy="3600450"/>
  <p:notesSz cx="6797675" cy="992505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Manrope" panose="020B0604020202020204" charset="0"/>
      <p:regular r:id="rId10"/>
      <p:bold r:id="rId11"/>
    </p:embeddedFont>
    <p:embeddedFont>
      <p:font typeface="Sans Serif Collection" panose="020B0604020202020204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9521BADF-2DD4-4DD1-A2AB-CA360434947F}">
          <p14:sldIdLst>
            <p14:sldId id="285"/>
            <p14:sldId id="286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0" pos="107" userDrawn="1">
          <p15:clr>
            <a:srgbClr val="A4A3A4"/>
          </p15:clr>
        </p15:guide>
        <p15:guide id="11" orient="horz" pos="9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113614-3D4A-D959-306B-C1501A9A160A}" name="Тимур Фархутдинов" initials="ТФ" userId="3368c0616fdce98a" providerId="Windows Live"/>
  <p188:author id="{6C72FE5B-A8E0-C0AC-451B-B8E187AABF98}" name="timur.farkhutdinov2@gmail.com" initials="t" userId="3d08e8c2326de532" providerId="Windows Live"/>
  <p188:author id="{89C34C68-78A2-B125-7192-FF2EFEBAE0FD}" name="Артем Безус" initials="АБ" userId="S-1-5-21-990862761-3251299651-1380545623-3220" providerId="AD"/>
  <p188:author id="{8FC4839B-44D3-796E-2E25-35336B0C54DF}" name="Ольга Шевченко" initials="ОШ" userId="Ольга Шевченко" providerId="None"/>
  <p188:author id="{F0EB4A9C-6597-5A72-E7D3-6E138B982CA8}" name="Игорь Малышев" initials="ИМ" userId="S-1-5-21-990862761-3251299651-1380545623-3261" providerId="AD"/>
  <p188:author id="{55A0EEAF-60F5-CB45-9831-3A9643DF3022}" name="7297" initials="77" userId="S::vip7297@d.of365.online::9e94307d-7670-4e49-9b41-9c10c7323eb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льга Шевченко" initials="ОШ" lastIdx="33" clrIdx="0">
    <p:extLst>
      <p:ext uri="{19B8F6BF-5375-455C-9EA6-DF929625EA0E}">
        <p15:presenceInfo xmlns:p15="http://schemas.microsoft.com/office/powerpoint/2012/main" userId="Ольга Шевченко" providerId="None"/>
      </p:ext>
    </p:extLst>
  </p:cmAuthor>
  <p:cmAuthor id="2" name="timur.farkhutdinov2@gmail.com" initials="t" lastIdx="1" clrIdx="1">
    <p:extLst>
      <p:ext uri="{19B8F6BF-5375-455C-9EA6-DF929625EA0E}">
        <p15:presenceInfo xmlns:p15="http://schemas.microsoft.com/office/powerpoint/2012/main" userId="3d08e8c2326de532" providerId="Windows Live"/>
      </p:ext>
    </p:extLst>
  </p:cmAuthor>
  <p:cmAuthor id="3" name="Игорь Малышев" initials="ИМ" lastIdx="12" clrIdx="2">
    <p:extLst>
      <p:ext uri="{19B8F6BF-5375-455C-9EA6-DF929625EA0E}">
        <p15:presenceInfo xmlns:p15="http://schemas.microsoft.com/office/powerpoint/2012/main" userId="S-1-5-21-990862761-3251299651-1380545623-3261" providerId="AD"/>
      </p:ext>
    </p:extLst>
  </p:cmAuthor>
  <p:cmAuthor id="4" name="Артем Безус" initials="АБ" lastIdx="10" clrIdx="3">
    <p:extLst>
      <p:ext uri="{19B8F6BF-5375-455C-9EA6-DF929625EA0E}">
        <p15:presenceInfo xmlns:p15="http://schemas.microsoft.com/office/powerpoint/2012/main" userId="S-1-5-21-990862761-3251299651-1380545623-32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89E0"/>
    <a:srgbClr val="1A3A82"/>
    <a:srgbClr val="1F6788"/>
    <a:srgbClr val="B40016"/>
    <a:srgbClr val="32486F"/>
    <a:srgbClr val="7F7F7F"/>
    <a:srgbClr val="FBFBFB"/>
    <a:srgbClr val="A5004B"/>
    <a:srgbClr val="BDD7EE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03" autoAdjust="0"/>
    <p:restoredTop sz="94185" autoAdjust="0"/>
  </p:normalViewPr>
  <p:slideViewPr>
    <p:cSldViewPr snapToGrid="0" showGuides="1">
      <p:cViewPr varScale="1">
        <p:scale>
          <a:sx n="154" d="100"/>
          <a:sy n="154" d="100"/>
        </p:scale>
        <p:origin x="162" y="678"/>
      </p:cViewPr>
      <p:guideLst>
        <p:guide pos="107"/>
        <p:guide orient="horz" pos="9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27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anrope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anrope" pitchFamily="2" charset="0"/>
              </a:defRPr>
            </a:lvl1pPr>
          </a:lstStyle>
          <a:p>
            <a:fld id="{975F433B-0344-44A9-A44C-8DF596853146}" type="datetimeFigureOut">
              <a:rPr lang="ru-RU" smtClean="0"/>
              <a:pPr/>
              <a:t>29.06.2026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627188" y="1239838"/>
            <a:ext cx="10052051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anrope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anrope" pitchFamily="2" charset="0"/>
              </a:defRPr>
            </a:lvl1pPr>
          </a:lstStyle>
          <a:p>
            <a:fld id="{37B8AB1A-6DA6-4193-BDEA-53A912C098C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5335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92841" rtl="0" eaLnBrk="1" latinLnBrk="0" hangingPunct="1">
      <a:defRPr sz="909" kern="1200">
        <a:solidFill>
          <a:schemeClr val="tx1"/>
        </a:solidFill>
        <a:latin typeface="Manrope" pitchFamily="2" charset="0"/>
        <a:ea typeface="+mn-ea"/>
        <a:cs typeface="+mn-cs"/>
      </a:defRPr>
    </a:lvl1pPr>
    <a:lvl2pPr marL="346420" algn="l" defTabSz="692841" rtl="0" eaLnBrk="1" latinLnBrk="0" hangingPunct="1">
      <a:defRPr sz="909" kern="1200">
        <a:solidFill>
          <a:schemeClr val="tx1"/>
        </a:solidFill>
        <a:latin typeface="Manrope" pitchFamily="2" charset="0"/>
        <a:ea typeface="+mn-ea"/>
        <a:cs typeface="+mn-cs"/>
      </a:defRPr>
    </a:lvl2pPr>
    <a:lvl3pPr marL="692841" algn="l" defTabSz="692841" rtl="0" eaLnBrk="1" latinLnBrk="0" hangingPunct="1">
      <a:defRPr sz="909" kern="1200">
        <a:solidFill>
          <a:schemeClr val="tx1"/>
        </a:solidFill>
        <a:latin typeface="Manrope" pitchFamily="2" charset="0"/>
        <a:ea typeface="+mn-ea"/>
        <a:cs typeface="+mn-cs"/>
      </a:defRPr>
    </a:lvl3pPr>
    <a:lvl4pPr marL="1039261" algn="l" defTabSz="692841" rtl="0" eaLnBrk="1" latinLnBrk="0" hangingPunct="1">
      <a:defRPr sz="909" kern="1200">
        <a:solidFill>
          <a:schemeClr val="tx1"/>
        </a:solidFill>
        <a:latin typeface="Manrope" pitchFamily="2" charset="0"/>
        <a:ea typeface="+mn-ea"/>
        <a:cs typeface="+mn-cs"/>
      </a:defRPr>
    </a:lvl4pPr>
    <a:lvl5pPr marL="1385682" algn="l" defTabSz="692841" rtl="0" eaLnBrk="1" latinLnBrk="0" hangingPunct="1">
      <a:defRPr sz="909" kern="1200">
        <a:solidFill>
          <a:schemeClr val="tx1"/>
        </a:solidFill>
        <a:latin typeface="Manrope" pitchFamily="2" charset="0"/>
        <a:ea typeface="+mn-ea"/>
        <a:cs typeface="+mn-cs"/>
      </a:defRPr>
    </a:lvl5pPr>
    <a:lvl6pPr marL="1732102" algn="l" defTabSz="692841" rtl="0" eaLnBrk="1" latinLnBrk="0" hangingPunct="1">
      <a:defRPr sz="909" kern="1200">
        <a:solidFill>
          <a:schemeClr val="tx1"/>
        </a:solidFill>
        <a:latin typeface="+mn-lt"/>
        <a:ea typeface="+mn-ea"/>
        <a:cs typeface="+mn-cs"/>
      </a:defRPr>
    </a:lvl6pPr>
    <a:lvl7pPr marL="2078523" algn="l" defTabSz="692841" rtl="0" eaLnBrk="1" latinLnBrk="0" hangingPunct="1">
      <a:defRPr sz="909" kern="1200">
        <a:solidFill>
          <a:schemeClr val="tx1"/>
        </a:solidFill>
        <a:latin typeface="+mn-lt"/>
        <a:ea typeface="+mn-ea"/>
        <a:cs typeface="+mn-cs"/>
      </a:defRPr>
    </a:lvl7pPr>
    <a:lvl8pPr marL="2424943" algn="l" defTabSz="692841" rtl="0" eaLnBrk="1" latinLnBrk="0" hangingPunct="1">
      <a:defRPr sz="909" kern="1200">
        <a:solidFill>
          <a:schemeClr val="tx1"/>
        </a:solidFill>
        <a:latin typeface="+mn-lt"/>
        <a:ea typeface="+mn-ea"/>
        <a:cs typeface="+mn-cs"/>
      </a:defRPr>
    </a:lvl8pPr>
    <a:lvl9pPr marL="2771364" algn="l" defTabSz="692841" rtl="0" eaLnBrk="1" latinLnBrk="0" hangingPunct="1">
      <a:defRPr sz="90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1627188" y="1239838"/>
            <a:ext cx="10052051" cy="3351212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8AB1A-6DA6-4193-BDEA-53A912C098C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63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5098-BFEE-55C6-DAD2-6AA49023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8B570F6-3C0C-56D2-B9AA-E958027B9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627188" y="1239838"/>
            <a:ext cx="10052051" cy="3351212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8B17D60-70D6-537C-291B-0AB5C29BD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0BD541-FA88-4232-92A1-7E3174D1C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8AB1A-6DA6-4193-BDEA-53A912C098C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812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4EA90-F292-E34F-C617-BD2344E4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CE0B345-0E66-B72E-3D5E-8C437B481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627188" y="1239838"/>
            <a:ext cx="10052051" cy="3351212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41BD2CA-2E3E-F1BD-B885-C6E2D351B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8131A3-6496-3B40-A2EF-5FD0EC709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8AB1A-6DA6-4193-BDEA-53A912C098C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245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7563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70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9" userDrawn="1">
          <p15:clr>
            <a:srgbClr val="F26B43"/>
          </p15:clr>
        </p15:guide>
        <p15:guide id="2" pos="181" userDrawn="1">
          <p15:clr>
            <a:srgbClr val="F26B43"/>
          </p15:clr>
        </p15:guide>
        <p15:guide id="3" pos="6616" userDrawn="1">
          <p15:clr>
            <a:srgbClr val="F26B43"/>
          </p15:clr>
        </p15:guide>
        <p15:guide id="4" orient="horz" pos="15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BAF6-4E64-2C23-38C7-709FFDE0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D38446-5A28-8113-761E-3E7D9DE77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017"/>
            <a:ext cx="10799763" cy="363648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0BD88E1-0712-8AA2-C199-D7085D2C2CF0}"/>
              </a:ext>
            </a:extLst>
          </p:cNvPr>
          <p:cNvSpPr/>
          <p:nvPr/>
        </p:nvSpPr>
        <p:spPr>
          <a:xfrm>
            <a:off x="0" y="-9765"/>
            <a:ext cx="10799763" cy="3619977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6000"/>
                </a:schemeClr>
              </a:gs>
              <a:gs pos="100000">
                <a:schemeClr val="tx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0CE751-85E0-9FCC-EBCB-0BF6207D1F10}"/>
              </a:ext>
            </a:extLst>
          </p:cNvPr>
          <p:cNvSpPr txBox="1"/>
          <p:nvPr/>
        </p:nvSpPr>
        <p:spPr>
          <a:xfrm>
            <a:off x="296863" y="273051"/>
            <a:ext cx="5439628" cy="353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Малый бизнес Москвы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0B41A62-DC3C-0DE5-E27D-4E47AEB4DC37}"/>
              </a:ext>
            </a:extLst>
          </p:cNvPr>
          <p:cNvGrpSpPr/>
          <p:nvPr/>
        </p:nvGrpSpPr>
        <p:grpSpPr>
          <a:xfrm>
            <a:off x="204421" y="801550"/>
            <a:ext cx="5624512" cy="751736"/>
            <a:chOff x="287338" y="2615102"/>
            <a:chExt cx="5624512" cy="751736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B071AB5C-1FC7-0115-4362-467C1C5F48EF}"/>
                </a:ext>
              </a:extLst>
            </p:cNvPr>
            <p:cNvSpPr/>
            <p:nvPr/>
          </p:nvSpPr>
          <p:spPr>
            <a:xfrm>
              <a:off x="287338" y="2637980"/>
              <a:ext cx="5624512" cy="728858"/>
            </a:xfrm>
            <a:prstGeom prst="roundRect">
              <a:avLst>
                <a:gd name="adj" fmla="val 19224"/>
              </a:avLst>
            </a:prstGeom>
            <a:solidFill>
              <a:srgbClr val="1A3A82">
                <a:alpha val="24000"/>
              </a:srgbClr>
            </a:solidFill>
            <a:ln>
              <a:solidFill>
                <a:schemeClr val="bg1">
                  <a:alpha val="5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5A5EB9B-9F62-2DFF-3000-2944B54BB184}"/>
                </a:ext>
              </a:extLst>
            </p:cNvPr>
            <p:cNvSpPr txBox="1"/>
            <p:nvPr/>
          </p:nvSpPr>
          <p:spPr>
            <a:xfrm>
              <a:off x="493473" y="2615102"/>
              <a:ext cx="5241556" cy="712297"/>
            </a:xfrm>
            <a:prstGeom prst="rect">
              <a:avLst/>
            </a:prstGeom>
            <a:noFill/>
          </p:spPr>
          <p:txBody>
            <a:bodyPr wrap="square" lIns="0" tIns="10800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chemeClr val="bg1"/>
                  </a:solidFill>
                  <a:latin typeface="Calibri" panose="020F0502020204030204" pitchFamily="34" charset="0"/>
                  <a:ea typeface="Sans Serif Collection" panose="020B0502040504020204" pitchFamily="34" charset="0"/>
                  <a:cs typeface="Calibri" panose="020F0502020204030204" pitchFamily="34" charset="0"/>
                </a:rPr>
                <a:t>Главная миссия МБМ — создание новых бизнесов, повышение выживаемости МСП, а также рост </a:t>
              </a:r>
            </a:p>
            <a:p>
              <a:pPr>
                <a:lnSpc>
                  <a:spcPct val="80000"/>
                </a:lnSpc>
              </a:pPr>
              <a:r>
                <a:rPr lang="ru-RU" sz="1600" dirty="0">
                  <a:solidFill>
                    <a:schemeClr val="bg1"/>
                  </a:solidFill>
                  <a:latin typeface="Calibri" panose="020F0502020204030204" pitchFamily="34" charset="0"/>
                  <a:ea typeface="Sans Serif Collection" panose="020B0502040504020204" pitchFamily="34" charset="0"/>
                  <a:cs typeface="Calibri" panose="020F0502020204030204" pitchFamily="34" charset="0"/>
                </a:rPr>
                <a:t>и масштабирование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243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40511-7D5B-ADCD-69E4-718883FC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65C8CDF-E20C-EE09-9A32-FE6064AD2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017"/>
            <a:ext cx="10799763" cy="363648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70F94F-E7EA-0EC4-9C22-4AEBC960FB0F}"/>
              </a:ext>
            </a:extLst>
          </p:cNvPr>
          <p:cNvSpPr/>
          <p:nvPr/>
        </p:nvSpPr>
        <p:spPr>
          <a:xfrm>
            <a:off x="0" y="-26268"/>
            <a:ext cx="10799763" cy="3636482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6000"/>
                </a:schemeClr>
              </a:gs>
              <a:gs pos="100000">
                <a:schemeClr val="tx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2EFB8E-428A-7962-B7D5-9AFEDD61447D}"/>
              </a:ext>
            </a:extLst>
          </p:cNvPr>
          <p:cNvSpPr txBox="1"/>
          <p:nvPr/>
        </p:nvSpPr>
        <p:spPr>
          <a:xfrm>
            <a:off x="1463709" y="173106"/>
            <a:ext cx="7469187" cy="6980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u-RU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Полный комплекс нефинансовых услуг </a:t>
            </a:r>
          </a:p>
          <a:p>
            <a:pPr algn="ctr">
              <a:lnSpc>
                <a:spcPct val="80000"/>
              </a:lnSpc>
            </a:pPr>
            <a:r>
              <a:rPr lang="ru-RU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для бизнеса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A87B8-3CBA-3849-583D-5EB68E443353}"/>
              </a:ext>
            </a:extLst>
          </p:cNvPr>
          <p:cNvSpPr txBox="1"/>
          <p:nvPr/>
        </p:nvSpPr>
        <p:spPr>
          <a:xfrm>
            <a:off x="164118" y="1062241"/>
            <a:ext cx="1750477" cy="251795"/>
          </a:xfrm>
          <a:prstGeom prst="rect">
            <a:avLst/>
          </a:prstGeom>
          <a:noFill/>
        </p:spPr>
        <p:txBody>
          <a:bodyPr wrap="square" lIns="0" tIns="0" rIns="0" bIns="36000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ea typeface="Sans Serif Collection" panose="020B0502040504020204" pitchFamily="34" charset="0"/>
                <a:cs typeface="Calibri" panose="020F0502020204030204" pitchFamily="34" charset="0"/>
              </a:rPr>
              <a:t>поиск идеи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99003-3C72-7C9E-BBE4-3A161478DFAC}"/>
              </a:ext>
            </a:extLst>
          </p:cNvPr>
          <p:cNvSpPr txBox="1"/>
          <p:nvPr/>
        </p:nvSpPr>
        <p:spPr>
          <a:xfrm>
            <a:off x="-53625" y="1329241"/>
            <a:ext cx="2883831" cy="251795"/>
          </a:xfrm>
          <a:prstGeom prst="rect">
            <a:avLst/>
          </a:prstGeom>
          <a:noFill/>
        </p:spPr>
        <p:txBody>
          <a:bodyPr wrap="square" lIns="0" tIns="0" rIns="0" bIns="36000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ea typeface="Sans Serif Collection" panose="020B0502040504020204" pitchFamily="34" charset="0"/>
                <a:cs typeface="Calibri" panose="020F0502020204030204" pitchFamily="34" charset="0"/>
              </a:rPr>
              <a:t>регистрация бизнеса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2DFFB-8115-60B4-9E25-2B63ADACB39C}"/>
              </a:ext>
            </a:extLst>
          </p:cNvPr>
          <p:cNvSpPr txBox="1"/>
          <p:nvPr/>
        </p:nvSpPr>
        <p:spPr>
          <a:xfrm>
            <a:off x="62440" y="1609632"/>
            <a:ext cx="2484558" cy="251795"/>
          </a:xfrm>
          <a:prstGeom prst="rect">
            <a:avLst/>
          </a:prstGeom>
          <a:noFill/>
        </p:spPr>
        <p:txBody>
          <a:bodyPr wrap="square" lIns="0" tIns="0" rIns="0" bIns="36000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ea typeface="Sans Serif Collection" panose="020B0502040504020204" pitchFamily="34" charset="0"/>
                <a:cs typeface="Calibri" panose="020F0502020204030204" pitchFamily="34" charset="0"/>
              </a:rPr>
              <a:t>масштабирование</a:t>
            </a: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E1E82A47-E86B-4F0A-80FE-9B02B5E17F14}"/>
              </a:ext>
            </a:extLst>
          </p:cNvPr>
          <p:cNvGrpSpPr/>
          <p:nvPr/>
        </p:nvGrpSpPr>
        <p:grpSpPr>
          <a:xfrm>
            <a:off x="3772993" y="1007966"/>
            <a:ext cx="3101974" cy="514219"/>
            <a:chOff x="3772993" y="689961"/>
            <a:chExt cx="3101974" cy="51421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5DBC64C-9621-4164-B116-7AA07731570B}"/>
                </a:ext>
              </a:extLst>
            </p:cNvPr>
            <p:cNvSpPr txBox="1"/>
            <p:nvPr/>
          </p:nvSpPr>
          <p:spPr>
            <a:xfrm>
              <a:off x="3772993" y="689961"/>
              <a:ext cx="3101974" cy="282573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r>
                <a:rPr lang="ru-RU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Sans Serif Collection" panose="020B0502040504020204" pitchFamily="34" charset="0"/>
                  <a:cs typeface="Calibri" panose="020F0502020204030204" pitchFamily="34" charset="0"/>
                </a:rPr>
                <a:t>Консультации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C3972E1-DC01-4E5F-A9C3-BA9EEC887FD5}"/>
                </a:ext>
              </a:extLst>
            </p:cNvPr>
            <p:cNvSpPr txBox="1"/>
            <p:nvPr/>
          </p:nvSpPr>
          <p:spPr>
            <a:xfrm>
              <a:off x="3772993" y="946811"/>
              <a:ext cx="2965338" cy="257369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r>
                <a:rPr lang="ru-RU" sz="1200" dirty="0">
                  <a:solidFill>
                    <a:schemeClr val="bg1"/>
                  </a:solidFill>
                  <a:latin typeface="Calibri" panose="020F0502020204030204" pitchFamily="34" charset="0"/>
                  <a:ea typeface="Sans Serif Collection" panose="020B0502040504020204" pitchFamily="34" charset="0"/>
                  <a:cs typeface="Calibri" panose="020F0502020204030204" pitchFamily="34" charset="0"/>
                </a:rPr>
                <a:t>46 тыс. консультаций с начала года </a:t>
              </a: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49E117C-11A6-4E9E-A755-005D9B82348F}"/>
              </a:ext>
            </a:extLst>
          </p:cNvPr>
          <p:cNvGrpSpPr/>
          <p:nvPr/>
        </p:nvGrpSpPr>
        <p:grpSpPr>
          <a:xfrm>
            <a:off x="3772993" y="1878362"/>
            <a:ext cx="3892309" cy="724608"/>
            <a:chOff x="3927890" y="1406417"/>
            <a:chExt cx="3682870" cy="72460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0310B0D-1719-4EAF-AF8F-D75676CD1903}"/>
                </a:ext>
              </a:extLst>
            </p:cNvPr>
            <p:cNvSpPr txBox="1"/>
            <p:nvPr/>
          </p:nvSpPr>
          <p:spPr>
            <a:xfrm>
              <a:off x="3928216" y="1406417"/>
              <a:ext cx="3682544" cy="282573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r>
                <a:rPr lang="ru-RU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Sans Serif Collection" panose="020B0502040504020204" pitchFamily="34" charset="0"/>
                  <a:cs typeface="Calibri" panose="020F0502020204030204" pitchFamily="34" charset="0"/>
                </a:rPr>
                <a:t>Обучающие и деловые мероприятия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A8B1E3D-DAFF-4286-BCE5-2B4D6594E3E3}"/>
                </a:ext>
              </a:extLst>
            </p:cNvPr>
            <p:cNvSpPr txBox="1"/>
            <p:nvPr/>
          </p:nvSpPr>
          <p:spPr>
            <a:xfrm>
              <a:off x="3927890" y="1688990"/>
              <a:ext cx="3547172" cy="442035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ea typeface="Sans Serif Collection" panose="020B0502040504020204" pitchFamily="34" charset="0"/>
                  <a:cs typeface="Calibri" panose="020F0502020204030204" pitchFamily="34" charset="0"/>
                </a:rPr>
                <a:t>&gt;</a:t>
              </a:r>
              <a:r>
                <a:rPr lang="ru-RU" sz="1200" dirty="0">
                  <a:solidFill>
                    <a:schemeClr val="bg1"/>
                  </a:solidFill>
                  <a:latin typeface="Calibri" panose="020F0502020204030204" pitchFamily="34" charset="0"/>
                  <a:ea typeface="Sans Serif Collection" panose="020B0502040504020204" pitchFamily="34" charset="0"/>
                  <a:cs typeface="Calibri" panose="020F0502020204030204" pitchFamily="34" charset="0"/>
                </a:rPr>
                <a:t> 32 тыс. получателей образовательной поддержки с начала года</a:t>
              </a: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48C3067C-CDE4-471A-BB83-B8692359493A}"/>
              </a:ext>
            </a:extLst>
          </p:cNvPr>
          <p:cNvGrpSpPr/>
          <p:nvPr/>
        </p:nvGrpSpPr>
        <p:grpSpPr>
          <a:xfrm>
            <a:off x="3772993" y="2872387"/>
            <a:ext cx="3829470" cy="498017"/>
            <a:chOff x="3772993" y="2386790"/>
            <a:chExt cx="3829470" cy="49801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F00BF98-985F-4CF0-B921-FB7948267E93}"/>
                </a:ext>
              </a:extLst>
            </p:cNvPr>
            <p:cNvSpPr txBox="1"/>
            <p:nvPr/>
          </p:nvSpPr>
          <p:spPr>
            <a:xfrm>
              <a:off x="3772993" y="2386790"/>
              <a:ext cx="3682544" cy="282573"/>
            </a:xfrm>
            <a:prstGeom prst="rect">
              <a:avLst/>
            </a:prstGeom>
            <a:noFill/>
          </p:spPr>
          <p:txBody>
            <a:bodyPr wrap="square" lIns="0" tIns="0" rIns="0" bIns="36000" rtlCol="0">
              <a:spAutoFit/>
            </a:bodyPr>
            <a:lstStyle/>
            <a:p>
              <a:r>
                <a:rPr lang="ru-RU" sz="1600" b="1" dirty="0">
                  <a:solidFill>
                    <a:schemeClr val="bg1"/>
                  </a:solidFill>
                  <a:latin typeface="Calibri" panose="020F0502020204030204" pitchFamily="34" charset="0"/>
                  <a:ea typeface="Sans Serif Collection" panose="020B0502040504020204" pitchFamily="34" charset="0"/>
                  <a:cs typeface="Calibri" panose="020F0502020204030204" pitchFamily="34" charset="0"/>
                </a:rPr>
                <a:t>Электронные услуги и сервисы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91B301B-53E1-43FD-90DE-86E0EAE74760}"/>
                </a:ext>
              </a:extLst>
            </p:cNvPr>
            <p:cNvSpPr txBox="1"/>
            <p:nvPr/>
          </p:nvSpPr>
          <p:spPr>
            <a:xfrm>
              <a:off x="3801991" y="2627438"/>
              <a:ext cx="3800472" cy="257369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ea typeface="Sans Serif Collection" panose="020B0502040504020204" pitchFamily="34" charset="0"/>
                  <a:cs typeface="Calibri" panose="020F0502020204030204" pitchFamily="34" charset="0"/>
                </a:rPr>
                <a:t>&gt;</a:t>
              </a:r>
              <a:r>
                <a:rPr lang="ru-RU" sz="1200" dirty="0">
                  <a:solidFill>
                    <a:schemeClr val="bg1"/>
                  </a:solidFill>
                  <a:latin typeface="Calibri" panose="020F0502020204030204" pitchFamily="34" charset="0"/>
                  <a:ea typeface="Sans Serif Collection" panose="020B0502040504020204" pitchFamily="34" charset="0"/>
                  <a:cs typeface="Calibri" panose="020F0502020204030204" pitchFamily="34" charset="0"/>
                </a:rPr>
                <a:t>29 тыс. обращений к онлайн-сервисам с начала года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222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C84B9-954F-BB02-24AB-79145C3F0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40E7B63-1E9C-B7C2-6639-2005FF14E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017"/>
            <a:ext cx="10799763" cy="3636483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BE2909-B0DF-5011-FB1E-1091115DC84F}"/>
              </a:ext>
            </a:extLst>
          </p:cNvPr>
          <p:cNvSpPr/>
          <p:nvPr/>
        </p:nvSpPr>
        <p:spPr>
          <a:xfrm>
            <a:off x="0" y="-26268"/>
            <a:ext cx="10799763" cy="3636482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6000"/>
                </a:schemeClr>
              </a:gs>
              <a:gs pos="100000">
                <a:schemeClr val="tx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0EFCC4-3BB4-8209-30A1-3C4E8D8D456F}"/>
              </a:ext>
            </a:extLst>
          </p:cNvPr>
          <p:cNvSpPr txBox="1"/>
          <p:nvPr/>
        </p:nvSpPr>
        <p:spPr>
          <a:xfrm>
            <a:off x="2602788" y="141137"/>
            <a:ext cx="5817800" cy="353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Единый консультационный центр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EDB2E68-CF51-6F48-0998-BC61BFA73F83}"/>
              </a:ext>
            </a:extLst>
          </p:cNvPr>
          <p:cNvGrpSpPr/>
          <p:nvPr/>
        </p:nvGrpSpPr>
        <p:grpSpPr>
          <a:xfrm>
            <a:off x="1984164" y="1351385"/>
            <a:ext cx="6456686" cy="1747838"/>
            <a:chOff x="385763" y="1600201"/>
            <a:chExt cx="6460672" cy="1747838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F801D652-8AAF-CFBC-C0EB-E1E53F989EA2}"/>
                </a:ext>
              </a:extLst>
            </p:cNvPr>
            <p:cNvSpPr/>
            <p:nvPr/>
          </p:nvSpPr>
          <p:spPr>
            <a:xfrm>
              <a:off x="385763" y="1600201"/>
              <a:ext cx="6460672" cy="1747838"/>
            </a:xfrm>
            <a:prstGeom prst="roundRect">
              <a:avLst>
                <a:gd name="adj" fmla="val 8769"/>
              </a:avLst>
            </a:prstGeom>
            <a:solidFill>
              <a:srgbClr val="1A3A82">
                <a:alpha val="24000"/>
              </a:srgbClr>
            </a:solidFill>
            <a:ln>
              <a:solidFill>
                <a:schemeClr val="bg1">
                  <a:alpha val="5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E869F79B-15D4-C896-E2C9-82D7E8210477}"/>
                </a:ext>
              </a:extLst>
            </p:cNvPr>
            <p:cNvGrpSpPr/>
            <p:nvPr/>
          </p:nvGrpSpPr>
          <p:grpSpPr>
            <a:xfrm>
              <a:off x="760743" y="2138056"/>
              <a:ext cx="3343234" cy="390179"/>
              <a:chOff x="-1704873" y="2254666"/>
              <a:chExt cx="3343234" cy="390179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81BCA4-90AC-9AFD-7FFA-8D0AD9CEDBD7}"/>
                  </a:ext>
                </a:extLst>
              </p:cNvPr>
              <p:cNvSpPr txBox="1"/>
              <p:nvPr/>
            </p:nvSpPr>
            <p:spPr>
              <a:xfrm>
                <a:off x="-1703457" y="2254666"/>
                <a:ext cx="133497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Sans Serif Collection" panose="020B0502040504020204" pitchFamily="34" charset="0"/>
                    <a:cs typeface="Calibri" panose="020F0502020204030204" pitchFamily="34" charset="0"/>
                  </a:rPr>
                  <a:t>&gt;</a:t>
                </a:r>
                <a:r>
                  <a:rPr lang="ru-RU" sz="16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Sans Serif Collection" panose="020B0502040504020204" pitchFamily="34" charset="0"/>
                    <a:cs typeface="Calibri" panose="020F0502020204030204" pitchFamily="34" charset="0"/>
                  </a:rPr>
                  <a:t>400 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7DA25B-20BD-1546-A1B8-36938846F032}"/>
                  </a:ext>
                </a:extLst>
              </p:cNvPr>
              <p:cNvSpPr txBox="1"/>
              <p:nvPr/>
            </p:nvSpPr>
            <p:spPr>
              <a:xfrm>
                <a:off x="-1704873" y="2402865"/>
                <a:ext cx="3343234" cy="241980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Calibri" panose="020F0502020204030204" pitchFamily="34" charset="0"/>
                    <a:ea typeface="Sans Serif Collection" panose="020B0502040504020204" pitchFamily="34" charset="0"/>
                    <a:cs typeface="Calibri" panose="020F0502020204030204" pitchFamily="34" charset="0"/>
                  </a:rPr>
                  <a:t>тематик от 25 ОИВ </a:t>
                </a:r>
                <a:r>
                  <a:rPr lang="ru-RU" sz="1100" dirty="0" err="1">
                    <a:solidFill>
                      <a:schemeClr val="bg1"/>
                    </a:solidFill>
                    <a:latin typeface="Calibri" panose="020F0502020204030204" pitchFamily="34" charset="0"/>
                    <a:ea typeface="Sans Serif Collection" panose="020B0502040504020204" pitchFamily="34" charset="0"/>
                    <a:cs typeface="Calibri" panose="020F0502020204030204" pitchFamily="34" charset="0"/>
                  </a:rPr>
                  <a:t>г.Москвы</a:t>
                </a:r>
                <a:endParaRPr lang="ru-RU" sz="1100" dirty="0">
                  <a:solidFill>
                    <a:schemeClr val="bg1"/>
                  </a:solidFill>
                  <a:latin typeface="Calibri" panose="020F0502020204030204" pitchFamily="34" charset="0"/>
                  <a:ea typeface="Sans Serif Collection" panose="020B050204050402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7CEC3C6B-23C6-3085-5F0B-9155AE0681F1}"/>
                </a:ext>
              </a:extLst>
            </p:cNvPr>
            <p:cNvGrpSpPr/>
            <p:nvPr/>
          </p:nvGrpSpPr>
          <p:grpSpPr>
            <a:xfrm>
              <a:off x="3542907" y="1733052"/>
              <a:ext cx="2546458" cy="399527"/>
              <a:chOff x="1077291" y="1781733"/>
              <a:chExt cx="2546458" cy="39952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7DD300-4E8F-123C-1E2A-617B6A604C60}"/>
                  </a:ext>
                </a:extLst>
              </p:cNvPr>
              <p:cNvSpPr txBox="1"/>
              <p:nvPr/>
            </p:nvSpPr>
            <p:spPr>
              <a:xfrm>
                <a:off x="1078672" y="1781733"/>
                <a:ext cx="223508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Sans Serif Collection" panose="020B0502040504020204" pitchFamily="34" charset="0"/>
                    <a:cs typeface="Calibri" panose="020F0502020204030204" pitchFamily="34" charset="0"/>
                  </a:rPr>
                  <a:t>&gt;</a:t>
                </a:r>
                <a:r>
                  <a:rPr lang="ru-RU" sz="16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Sans Serif Collection" panose="020B0502040504020204" pitchFamily="34" charset="0"/>
                    <a:cs typeface="Calibri" panose="020F0502020204030204" pitchFamily="34" charset="0"/>
                  </a:rPr>
                  <a:t>85%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D77B574-983F-39BE-C5DA-ABB580D7D037}"/>
                  </a:ext>
                </a:extLst>
              </p:cNvPr>
              <p:cNvSpPr txBox="1"/>
              <p:nvPr/>
            </p:nvSpPr>
            <p:spPr>
              <a:xfrm>
                <a:off x="1077291" y="1939280"/>
                <a:ext cx="2546458" cy="241980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r>
                  <a:rPr lang="ru-RU" sz="1100" dirty="0">
                    <a:solidFill>
                      <a:schemeClr val="bg1"/>
                    </a:solidFill>
                    <a:latin typeface="Calibri" panose="020F0502020204030204" pitchFamily="34" charset="0"/>
                    <a:ea typeface="Sans Serif Collection" panose="020B0502040504020204" pitchFamily="34" charset="0"/>
                    <a:cs typeface="Calibri" panose="020F0502020204030204" pitchFamily="34" charset="0"/>
                  </a:rPr>
                  <a:t>услуг оказывается в электронном виде</a:t>
                </a:r>
              </a:p>
            </p:txBody>
          </p:sp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29B83A2-5262-20DC-30E4-7E01F4DC4076}"/>
              </a:ext>
            </a:extLst>
          </p:cNvPr>
          <p:cNvSpPr txBox="1"/>
          <p:nvPr/>
        </p:nvSpPr>
        <p:spPr>
          <a:xfrm>
            <a:off x="1491179" y="596311"/>
            <a:ext cx="7938960" cy="288147"/>
          </a:xfrm>
          <a:prstGeom prst="rect">
            <a:avLst/>
          </a:prstGeom>
          <a:noFill/>
        </p:spPr>
        <p:txBody>
          <a:bodyPr wrap="square" lIns="0" tIns="72000" rIns="0" bIns="0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Calibri" panose="020F0502020204030204" pitchFamily="34" charset="0"/>
                <a:ea typeface="Sans Serif Collection" panose="020B0502040504020204" pitchFamily="34" charset="0"/>
                <a:cs typeface="Calibri" panose="020F0502020204030204" pitchFamily="34" charset="0"/>
              </a:rPr>
              <a:t>Предприниматель может получить консультации по всем вопросам в режиме «одно окно»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02EEB7-7E02-49F5-8D4F-2BA148FC0E66}"/>
              </a:ext>
            </a:extLst>
          </p:cNvPr>
          <p:cNvSpPr txBox="1"/>
          <p:nvPr/>
        </p:nvSpPr>
        <p:spPr>
          <a:xfrm>
            <a:off x="5140740" y="2262794"/>
            <a:ext cx="31442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Sans Serif Collection" panose="020B0502040504020204" pitchFamily="34" charset="0"/>
                <a:cs typeface="Calibri" panose="020F0502020204030204" pitchFamily="34" charset="0"/>
              </a:rPr>
              <a:t>&gt;</a:t>
            </a:r>
            <a:r>
              <a:rPr lang="ru-RU" sz="1600" b="1" dirty="0">
                <a:solidFill>
                  <a:schemeClr val="bg1"/>
                </a:solidFill>
                <a:latin typeface="Calibri" panose="020F0502020204030204" pitchFamily="34" charset="0"/>
                <a:ea typeface="Sans Serif Collection" panose="020B0502040504020204" pitchFamily="34" charset="0"/>
                <a:cs typeface="Calibri" panose="020F0502020204030204" pitchFamily="34" charset="0"/>
              </a:rPr>
              <a:t>25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D25DC5-634F-47D1-A3FA-2AC8D48D90E5}"/>
              </a:ext>
            </a:extLst>
          </p:cNvPr>
          <p:cNvSpPr txBox="1"/>
          <p:nvPr/>
        </p:nvSpPr>
        <p:spPr>
          <a:xfrm>
            <a:off x="5180967" y="2392861"/>
            <a:ext cx="3259883" cy="411257"/>
          </a:xfrm>
          <a:prstGeom prst="rect">
            <a:avLst/>
          </a:prstGeom>
          <a:noFill/>
        </p:spPr>
        <p:txBody>
          <a:bodyPr wrap="square" lIns="0" tIns="72000" rIns="0" bIns="0" rtlCol="0">
            <a:spAutoFit/>
          </a:bodyPr>
          <a:lstStyle/>
          <a:p>
            <a:r>
              <a:rPr lang="ru-RU" sz="1100" dirty="0">
                <a:solidFill>
                  <a:schemeClr val="bg1"/>
                </a:solidFill>
                <a:latin typeface="Calibri" panose="020F0502020204030204" pitchFamily="34" charset="0"/>
                <a:ea typeface="Sans Serif Collection" panose="020B0502040504020204" pitchFamily="34" charset="0"/>
                <a:cs typeface="Calibri" panose="020F0502020204030204" pitchFamily="34" charset="0"/>
              </a:rPr>
              <a:t>услуг оказывается в автоматизированном </a:t>
            </a:r>
          </a:p>
          <a:p>
            <a:r>
              <a:rPr lang="ru-RU" sz="1100" dirty="0">
                <a:solidFill>
                  <a:schemeClr val="bg1"/>
                </a:solidFill>
                <a:latin typeface="Calibri" panose="020F0502020204030204" pitchFamily="34" charset="0"/>
                <a:ea typeface="Sans Serif Collection" panose="020B0502040504020204" pitchFamily="34" charset="0"/>
                <a:cs typeface="Calibri" panose="020F0502020204030204" pitchFamily="34" charset="0"/>
              </a:rPr>
              <a:t>режиме (ИИ)</a:t>
            </a:r>
          </a:p>
        </p:txBody>
      </p:sp>
    </p:spTree>
    <p:extLst>
      <p:ext uri="{BB962C8B-B14F-4D97-AF65-F5344CB8AC3E}">
        <p14:creationId xmlns:p14="http://schemas.microsoft.com/office/powerpoint/2010/main" val="36596461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39058</TotalTime>
  <Words>113</Words>
  <Application>Microsoft Office PowerPoint</Application>
  <PresentationFormat>Произвольный</PresentationFormat>
  <Paragraphs>26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Sans Serif Collection</vt:lpstr>
      <vt:lpstr>Calibri</vt:lpstr>
      <vt:lpstr>Arial</vt:lpstr>
      <vt:lpstr>Manrope</vt:lpstr>
      <vt:lpstr>Aptos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TIMUR</dc:creator>
  <cp:lastModifiedBy>Зубарева Любовь Игоревна</cp:lastModifiedBy>
  <cp:revision>688</cp:revision>
  <cp:lastPrinted>2025-03-04T11:48:20Z</cp:lastPrinted>
  <dcterms:created xsi:type="dcterms:W3CDTF">2024-11-28T16:00:08Z</dcterms:created>
  <dcterms:modified xsi:type="dcterms:W3CDTF">2026-06-29T08:54:37Z</dcterms:modified>
</cp:coreProperties>
</file>