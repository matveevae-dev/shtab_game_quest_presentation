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25" userDrawn="1">
          <p15:clr>
            <a:srgbClr val="A4A3A4"/>
          </p15:clr>
        </p15:guide>
        <p15:guide id="4" pos="7355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orient="horz" pos="504" userDrawn="1">
          <p15:clr>
            <a:srgbClr val="A4A3A4"/>
          </p15:clr>
        </p15:guide>
        <p15:guide id="7" orient="horz" pos="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00FF"/>
    <a:srgbClr val="000099"/>
    <a:srgbClr val="0B379B"/>
    <a:srgbClr val="3366FF"/>
    <a:srgbClr val="0000CC"/>
    <a:srgbClr val="6699FF"/>
    <a:srgbClr val="3333CC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3" autoAdjust="0"/>
    <p:restoredTop sz="94660"/>
  </p:normalViewPr>
  <p:slideViewPr>
    <p:cSldViewPr snapToGrid="0" showGuides="1">
      <p:cViewPr varScale="1">
        <p:scale>
          <a:sx n="162" d="100"/>
          <a:sy n="162" d="100"/>
        </p:scale>
        <p:origin x="100" y="168"/>
      </p:cViewPr>
      <p:guideLst>
        <p:guide orient="horz" pos="346"/>
        <p:guide pos="3840"/>
        <p:guide pos="325"/>
        <p:guide pos="7355"/>
        <p:guide orient="horz" pos="3974"/>
        <p:guide orient="horz" pos="504"/>
        <p:guide orient="horz" pos="8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S Hauss Next Wide" pitchFamily="50" charset="0"/>
                <a:ea typeface="+mn-ea"/>
                <a:cs typeface="+mn-cs"/>
              </a:defRPr>
            </a:pPr>
            <a:r>
              <a:rPr lang="ru-RU" dirty="0">
                <a:latin typeface="ALS Hauss Next Wide" pitchFamily="50" charset="0"/>
              </a:rPr>
              <a:t>Диаграмма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S Hauss Next Wide" pitchFamily="50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проценты</c:v>
                </c:pt>
              </c:strCache>
            </c:strRef>
          </c:tx>
          <c:dPt>
            <c:idx val="0"/>
            <c:bubble3D val="0"/>
            <c:spPr>
              <a:solidFill>
                <a:srgbClr val="00009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BCD-47B1-8E5C-6EAE05296D76}"/>
              </c:ext>
            </c:extLst>
          </c:dPt>
          <c:dPt>
            <c:idx val="1"/>
            <c:bubble3D val="0"/>
            <c:spPr>
              <a:solidFill>
                <a:srgbClr val="0000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BCD-47B1-8E5C-6EAE05296D76}"/>
              </c:ext>
            </c:extLst>
          </c:dPt>
          <c:dPt>
            <c:idx val="2"/>
            <c:bubble3D val="0"/>
            <c:spPr>
              <a:solidFill>
                <a:srgbClr val="6699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BCD-47B1-8E5C-6EAE05296D76}"/>
              </c:ext>
            </c:extLst>
          </c:dPt>
          <c:dPt>
            <c:idx val="3"/>
            <c:bubble3D val="0"/>
            <c:spPr>
              <a:solidFill>
                <a:srgbClr val="0000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2BCD-47B1-8E5C-6EAE05296D76}"/>
              </c:ext>
            </c:extLst>
          </c:dPt>
          <c:cat>
            <c:strRef>
              <c:f>Лист1!$A$2:$A$5</c:f>
              <c:strCache>
                <c:ptCount val="4"/>
                <c:pt idx="0">
                  <c:v>сегмент 1</c:v>
                </c:pt>
                <c:pt idx="1">
                  <c:v>сегмент 2</c:v>
                </c:pt>
                <c:pt idx="2">
                  <c:v>сегмент 3</c:v>
                </c:pt>
                <c:pt idx="3">
                  <c:v>сегмент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30</c:v>
                </c:pt>
                <c:pt idx="1">
                  <c:v>17</c:v>
                </c:pt>
                <c:pt idx="2">
                  <c:v>45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CD-47B1-8E5C-6EAE05296D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LS Hauss Next" pitchFamily="50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0D42FB-7EA0-D8B2-8438-65EAE8069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2C62A4-3A46-73E7-0D48-A0DA11CDC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8735B8-95DB-7A0A-5C27-22D21A844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F80-3229-495C-BDA8-7111596277BD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4E438B-782F-130B-3751-72D6A5EA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B8D139-0EBE-456B-C446-4213E71B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84A2-946B-4CA5-A01F-C3AE38BA4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74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B7C185-F669-8F5C-4E75-9EB6EF1A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80EEFA-2AC4-BF39-1F35-48B4F4B93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064222-E8F4-59E0-2BCD-91458E096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F80-3229-495C-BDA8-7111596277BD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49CA01-525E-1EAD-91CD-EDA89787E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84E2C8-5282-0851-65EF-AB732CFB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84A2-946B-4CA5-A01F-C3AE38BA4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92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EB8BF5-3EEA-21E4-48F0-C23EAA3C4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A5AAA9-9EF1-EA22-2E7C-49AE8313C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9CBE6F-2B95-CFB1-F3C5-E2090784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F80-3229-495C-BDA8-7111596277BD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683BF3-F08B-D5E1-3E82-43F2C36F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4EC23F-D838-0C1F-41CC-8DAB2A01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84A2-946B-4CA5-A01F-C3AE38BA4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067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CBB66-9249-87F5-E08B-82B98AE7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90B85-19C0-3501-16F4-1E1C53D8D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B5331A-3100-C83F-4CDC-7327A4CFE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EB2402-176A-1D6C-3B59-1FD3B948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F80-3229-495C-BDA8-7111596277BD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F8B6BC-4D9B-C38D-3D54-C672EEC3F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C2A80F-5940-6A88-7E0F-07F644D5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84A2-946B-4CA5-A01F-C3AE38BA4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85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D17BB5-6CC5-6CA7-0559-28E70CCF5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790D07-4EF5-949D-B58C-D7447F550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EE1361-39EA-40A6-8FB6-020A8ECAE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01D8481-9B6C-DF2C-1DD8-5CBE75A44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CB633BD-A3C0-C95E-AA30-E55D0B0C6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B303692-CDB5-DA59-DEF6-A25EE1A3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F80-3229-495C-BDA8-7111596277BD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7E984B-76A7-DCF2-8E28-3B6A24006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45DCE2-ED1B-75AC-5546-991EB4F1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84A2-946B-4CA5-A01F-C3AE38BA4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40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434EC-7C9D-9C83-C7CB-6115E6261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768362-6019-7868-1289-6820269CC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F80-3229-495C-BDA8-7111596277BD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AA485D-66B5-D20C-5DFD-EFD428E6F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BD8AF0-FA79-EF88-CD9D-F6B064C17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84A2-946B-4CA5-A01F-C3AE38BA4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22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F5E530E-5794-9535-7E52-D2F5BB16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F80-3229-495C-BDA8-7111596277BD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E4A08A-435B-8027-1757-9048A1680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52C81B-65EF-7221-C5EA-ACB60464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84A2-946B-4CA5-A01F-C3AE38BA4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80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6232A-12DD-0EEE-C81E-8693D2106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246593-AFDD-12AE-3F9D-A3D3F1F9B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E4B394-DAF6-50EF-0D88-E19D76615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C84864-58F5-0523-9B6E-3AE7BEB9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F80-3229-495C-BDA8-7111596277BD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FEACE1-1A93-8440-C993-065EAB78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7D69BF-CACA-1C1C-E4A4-53D9B722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84A2-946B-4CA5-A01F-C3AE38BA4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08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7B24E-68F9-94C2-6335-2B83A897E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93D3F1-D050-4025-7332-999B86D5D7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0A963A-7A91-FCA3-5AB7-B3D5C025C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65C408-7F77-13D1-F461-6ED427A43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F80-3229-495C-BDA8-7111596277BD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6F67C0-EB9B-4882-C0A6-C8AD2FE6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DC135D-3D43-2AA6-59DC-62951202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84A2-946B-4CA5-A01F-C3AE38BA4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632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A0BA0-630D-4FDC-68E3-880F810BE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BB4EF0C-D1C6-D77D-490F-BD30ED19D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6BCF96-A83F-2C92-B333-15F51F33D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F80-3229-495C-BDA8-7111596277BD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8D6507-0339-02BF-0441-D98A2B0C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B3D180-957A-A3DC-889C-B6DE4F98B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84A2-946B-4CA5-A01F-C3AE38BA4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85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CBE8FCE-7A82-C2F8-7AB1-6F188270C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F548EE-B352-5D3E-BBBB-81F547FED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E2B017-6792-A547-32FC-98E83FBE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F80-3229-495C-BDA8-7111596277BD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54DD74-0653-33A3-1773-DB59F86D0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CDE6E2-119D-CC81-C116-59395076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184A2-946B-4CA5-A01F-C3AE38BA4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27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DF268-6BD1-D2CD-B255-A2CDC0DFC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F3E2BA-8707-9665-BA9D-911B1EE7E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B7CFA4-1106-FB07-D58C-DB4495A764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D86F80-3229-495C-BDA8-7111596277BD}" type="datetimeFigureOut">
              <a:rPr lang="ru-RU" smtClean="0"/>
              <a:t>01.07.2026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369CF4-3E23-C790-00C1-084050FC1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EA26B8-CFC3-7C3C-89DD-32754942F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184A2-946B-4CA5-A01F-C3AE38BA4E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0976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260698-8CDA-4F17-370A-EFAB9336A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14F9FF-96F2-D5F8-256B-1ACBE5D1F802}"/>
              </a:ext>
            </a:extLst>
          </p:cNvPr>
          <p:cNvSpPr txBox="1"/>
          <p:nvPr/>
        </p:nvSpPr>
        <p:spPr>
          <a:xfrm>
            <a:off x="404264" y="4274479"/>
            <a:ext cx="54795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ALS Hauss Next Wide" pitchFamily="50" charset="0"/>
              </a:rPr>
              <a:t>НАЗВАНИЕ ПРЕЗЕНТАЦИИ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29F4C3-D600-1226-B06C-AB116C74F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938" y="575338"/>
            <a:ext cx="2078021" cy="4640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86AFD1-8998-3222-AD35-38EFD6A8D0EF}"/>
              </a:ext>
            </a:extLst>
          </p:cNvPr>
          <p:cNvSpPr txBox="1"/>
          <p:nvPr/>
        </p:nvSpPr>
        <p:spPr>
          <a:xfrm>
            <a:off x="404264" y="5597918"/>
            <a:ext cx="5479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LS Hauss Next Wide" pitchFamily="50" charset="0"/>
              </a:rPr>
              <a:t>ПОДЗАГОЛОВОК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ACBAB01-85DC-D212-EC54-1AC161569132}"/>
              </a:ext>
            </a:extLst>
          </p:cNvPr>
          <p:cNvCxnSpPr/>
          <p:nvPr/>
        </p:nvCxnSpPr>
        <p:spPr>
          <a:xfrm>
            <a:off x="2873715" y="548223"/>
            <a:ext cx="0" cy="4787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F6CFC6F-E38D-DBB2-B370-411DAF0691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06534" y="492374"/>
            <a:ext cx="1668827" cy="59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6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06DFF6E-AC00-CFAD-D44A-0358FC39D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761"/>
          <a:stretch/>
        </p:blipFill>
        <p:spPr>
          <a:xfrm>
            <a:off x="6299849" y="-1"/>
            <a:ext cx="5892151" cy="6858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2D9372-5702-CE88-4BC8-75414F441EBA}"/>
              </a:ext>
            </a:extLst>
          </p:cNvPr>
          <p:cNvSpPr txBox="1"/>
          <p:nvPr/>
        </p:nvSpPr>
        <p:spPr>
          <a:xfrm>
            <a:off x="412576" y="401456"/>
            <a:ext cx="5479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00066"/>
                </a:solidFill>
                <a:latin typeface="ALS Hauss Next Wide" pitchFamily="50" charset="0"/>
              </a:rPr>
              <a:t>ЗАГОЛОВОК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FB3C5-1DA7-3905-C66F-28EE60C44634}"/>
              </a:ext>
            </a:extLst>
          </p:cNvPr>
          <p:cNvSpPr txBox="1"/>
          <p:nvPr/>
        </p:nvSpPr>
        <p:spPr>
          <a:xfrm>
            <a:off x="415347" y="1923253"/>
            <a:ext cx="568342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100" dirty="0">
                <a:latin typeface="ALS Hauss Next" pitchFamily="50" charset="0"/>
              </a:rPr>
              <a:t>И нет сомнений, что стремящиеся вытеснить традиционное производство, нанотехнологии представляют собой не что иное, как квинтэссенцию победы маркетинга над разумом и должны быть преданы социально-демократической анафеме. </a:t>
            </a:r>
          </a:p>
          <a:p>
            <a:pPr algn="just"/>
            <a:endParaRPr lang="ru-RU" sz="1100" dirty="0">
              <a:latin typeface="ALS Hauss Next" pitchFamily="50" charset="0"/>
            </a:endParaRPr>
          </a:p>
          <a:p>
            <a:pPr algn="just"/>
            <a:r>
              <a:rPr lang="ru-RU" sz="1100" dirty="0">
                <a:latin typeface="ALS Hauss Next" pitchFamily="50" charset="0"/>
              </a:rPr>
              <a:t>Для современного мира высококачественный прототип будущего проекта говорит о возможностях существующих финансовых и административных условий. </a:t>
            </a:r>
            <a:br>
              <a:rPr lang="ru-RU" sz="1100" dirty="0">
                <a:latin typeface="ALS Hauss Next" pitchFamily="50" charset="0"/>
              </a:rPr>
            </a:br>
            <a:r>
              <a:rPr lang="ru-RU" sz="1100" dirty="0">
                <a:latin typeface="ALS Hauss Next" pitchFamily="50" charset="0"/>
              </a:rPr>
              <a:t>В частности, граница обучения кадров требует анализа форм воздействия. </a:t>
            </a:r>
          </a:p>
          <a:p>
            <a:pPr algn="just"/>
            <a:endParaRPr lang="ru-RU" sz="1100" dirty="0">
              <a:latin typeface="ALS Hauss Next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04280A-D917-EF09-D49B-C6B82F219C6C}"/>
              </a:ext>
            </a:extLst>
          </p:cNvPr>
          <p:cNvSpPr txBox="1"/>
          <p:nvPr/>
        </p:nvSpPr>
        <p:spPr>
          <a:xfrm>
            <a:off x="412576" y="1301953"/>
            <a:ext cx="547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LS Hauss Next Wide" pitchFamily="50" charset="0"/>
              </a:rPr>
              <a:t>ПОДЗАГОЛОВОК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60EBE-20C5-C0D4-1260-78FA1704F3F8}"/>
              </a:ext>
            </a:extLst>
          </p:cNvPr>
          <p:cNvSpPr txBox="1"/>
          <p:nvPr/>
        </p:nvSpPr>
        <p:spPr>
          <a:xfrm>
            <a:off x="11676063" y="6333663"/>
            <a:ext cx="315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LS Hauss Next" pitchFamily="50" charset="0"/>
              </a:rPr>
              <a:t>1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C8ABE9A-A1D0-F279-F40D-1FC4BC9DD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8832" y="549275"/>
            <a:ext cx="1236518" cy="276116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C034AC85-09EA-5900-8DD5-57EDCD2BF6A7}"/>
              </a:ext>
            </a:extLst>
          </p:cNvPr>
          <p:cNvCxnSpPr>
            <a:cxnSpLocks/>
          </p:cNvCxnSpPr>
          <p:nvPr/>
        </p:nvCxnSpPr>
        <p:spPr>
          <a:xfrm>
            <a:off x="10720928" y="560728"/>
            <a:ext cx="0" cy="239372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CE8896B-A11A-8A45-763E-EB1CFC73A6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57249" y="507904"/>
            <a:ext cx="1005549" cy="358858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A6D3AD7-16B8-9ABB-0244-3D623EB8704D}"/>
              </a:ext>
            </a:extLst>
          </p:cNvPr>
          <p:cNvSpPr/>
          <p:nvPr/>
        </p:nvSpPr>
        <p:spPr>
          <a:xfrm>
            <a:off x="515938" y="5838794"/>
            <a:ext cx="1495742" cy="332509"/>
          </a:xfrm>
          <a:prstGeom prst="roundRect">
            <a:avLst>
              <a:gd name="adj" fmla="val 50000"/>
            </a:avLst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467CC8-35F3-A28E-3F9A-5D14C56FEB50}"/>
              </a:ext>
            </a:extLst>
          </p:cNvPr>
          <p:cNvSpPr txBox="1"/>
          <p:nvPr/>
        </p:nvSpPr>
        <p:spPr>
          <a:xfrm>
            <a:off x="813673" y="5874243"/>
            <a:ext cx="9002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>
                <a:solidFill>
                  <a:schemeClr val="bg1"/>
                </a:solidFill>
                <a:latin typeface="ALS Hauss Next Wide" pitchFamily="50" charset="0"/>
              </a:rPr>
              <a:t>ЭТАП 1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3D4A95EF-8444-2F99-969A-97EC0B6D5D3B}"/>
              </a:ext>
            </a:extLst>
          </p:cNvPr>
          <p:cNvSpPr/>
          <p:nvPr/>
        </p:nvSpPr>
        <p:spPr>
          <a:xfrm>
            <a:off x="2309415" y="5838794"/>
            <a:ext cx="1495742" cy="332509"/>
          </a:xfrm>
          <a:prstGeom prst="roundRect">
            <a:avLst>
              <a:gd name="adj" fmla="val 50000"/>
            </a:avLst>
          </a:prstGeom>
          <a:solidFill>
            <a:srgbClr val="33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C18C64-A860-AE4F-E689-ADD1DB6C3494}"/>
              </a:ext>
            </a:extLst>
          </p:cNvPr>
          <p:cNvSpPr txBox="1"/>
          <p:nvPr/>
        </p:nvSpPr>
        <p:spPr>
          <a:xfrm>
            <a:off x="2607150" y="5874243"/>
            <a:ext cx="9002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>
                <a:solidFill>
                  <a:schemeClr val="bg1"/>
                </a:solidFill>
                <a:latin typeface="ALS Hauss Next Wide" pitchFamily="50" charset="0"/>
              </a:rPr>
              <a:t>ЭТАП 2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DAC1354-9813-4231-1257-7403BAFE8A56}"/>
              </a:ext>
            </a:extLst>
          </p:cNvPr>
          <p:cNvSpPr/>
          <p:nvPr/>
        </p:nvSpPr>
        <p:spPr>
          <a:xfrm>
            <a:off x="4102892" y="5838794"/>
            <a:ext cx="1495742" cy="332509"/>
          </a:xfrm>
          <a:prstGeom prst="roundRect">
            <a:avLst>
              <a:gd name="adj" fmla="val 50000"/>
            </a:avLst>
          </a:prstGeom>
          <a:noFill/>
          <a:ln>
            <a:solidFill>
              <a:srgbClr val="0B37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87833B-B73A-1404-0C76-157C264CD7CF}"/>
              </a:ext>
            </a:extLst>
          </p:cNvPr>
          <p:cNvSpPr txBox="1"/>
          <p:nvPr/>
        </p:nvSpPr>
        <p:spPr>
          <a:xfrm>
            <a:off x="4400627" y="5874243"/>
            <a:ext cx="9002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>
                <a:solidFill>
                  <a:srgbClr val="0B379B"/>
                </a:solidFill>
                <a:latin typeface="ALS Hauss Next Wide" pitchFamily="50" charset="0"/>
              </a:rPr>
              <a:t>ЭТАП 2</a:t>
            </a:r>
          </a:p>
        </p:txBody>
      </p:sp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BDB1C82A-87C2-B1F5-0943-49DECFA11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7349"/>
              </p:ext>
            </p:extLst>
          </p:nvPr>
        </p:nvGraphicFramePr>
        <p:xfrm>
          <a:off x="515940" y="3590978"/>
          <a:ext cx="5580060" cy="1893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012">
                  <a:extLst>
                    <a:ext uri="{9D8B030D-6E8A-4147-A177-3AD203B41FA5}">
                      <a16:colId xmlns:a16="http://schemas.microsoft.com/office/drawing/2014/main" val="1805845341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3107239173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626983938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157903115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3326944925"/>
                    </a:ext>
                  </a:extLst>
                </a:gridCol>
              </a:tblGrid>
              <a:tr h="631119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LS Hauss Next Wide" pitchFamily="50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LS Hauss Next Wide" pitchFamily="50" charset="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LS Hauss Next Wide" pitchFamily="50" charset="0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LS Hauss Next Wide" pitchFamily="50" charset="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latin typeface="ALS Hauss Next Wide" pitchFamily="50" charset="0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546940"/>
                  </a:ext>
                </a:extLst>
              </a:tr>
              <a:tr h="6311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080652"/>
                  </a:ext>
                </a:extLst>
              </a:tr>
              <a:tr h="631119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950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381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7EDADDB-FE8E-C588-0AAB-5F116AD34EB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D9372-5702-CE88-4BC8-75414F441EBA}"/>
              </a:ext>
            </a:extLst>
          </p:cNvPr>
          <p:cNvSpPr txBox="1"/>
          <p:nvPr/>
        </p:nvSpPr>
        <p:spPr>
          <a:xfrm>
            <a:off x="412576" y="401456"/>
            <a:ext cx="5479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ALS Hauss Next Wide" pitchFamily="50" charset="0"/>
              </a:rPr>
              <a:t>ЗАГОЛОВОК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FB3C5-1DA7-3905-C66F-28EE60C44634}"/>
              </a:ext>
            </a:extLst>
          </p:cNvPr>
          <p:cNvSpPr txBox="1"/>
          <p:nvPr/>
        </p:nvSpPr>
        <p:spPr>
          <a:xfrm>
            <a:off x="412576" y="1975792"/>
            <a:ext cx="5137555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100" dirty="0">
                <a:solidFill>
                  <a:schemeClr val="bg1"/>
                </a:solidFill>
                <a:latin typeface="ALS Hauss Next" pitchFamily="50" charset="0"/>
              </a:rPr>
              <a:t>И нет сомнений, что стремящиеся вытеснить традиционное производство, нанотехнологии представляют собой не что иное, как квинтэссенцию победы маркетинга над разумом и должны быть преданы социально-демократической анафеме. </a:t>
            </a:r>
          </a:p>
          <a:p>
            <a:pPr algn="just"/>
            <a:endParaRPr lang="ru-RU" sz="1100" dirty="0">
              <a:solidFill>
                <a:schemeClr val="bg1"/>
              </a:solidFill>
              <a:latin typeface="ALS Hauss Next" pitchFamily="50" charset="0"/>
            </a:endParaRPr>
          </a:p>
          <a:p>
            <a:pPr algn="just"/>
            <a:r>
              <a:rPr lang="ru-RU" sz="1100" dirty="0">
                <a:solidFill>
                  <a:schemeClr val="bg1"/>
                </a:solidFill>
                <a:latin typeface="ALS Hauss Next" pitchFamily="50" charset="0"/>
              </a:rPr>
              <a:t>Для современного мира высококачественный прототип будущего проекта говорит о возможностях существующих финансовых и административных условий. В частности, граница обучения кадров требует анализа форм воздействия. </a:t>
            </a:r>
          </a:p>
          <a:p>
            <a:pPr algn="just"/>
            <a:endParaRPr lang="ru-RU" sz="1100" dirty="0">
              <a:solidFill>
                <a:schemeClr val="bg1"/>
              </a:solidFill>
              <a:latin typeface="ALS Hauss Next" pitchFamily="50" charset="0"/>
            </a:endParaRPr>
          </a:p>
          <a:p>
            <a:pPr algn="just"/>
            <a:r>
              <a:rPr lang="ru-RU" sz="1100" dirty="0">
                <a:solidFill>
                  <a:schemeClr val="bg1"/>
                </a:solidFill>
                <a:latin typeface="ALS Hauss Next" pitchFamily="50" charset="0"/>
              </a:rPr>
              <a:t>Приятно, граждане, наблюдать, как активно развивающиеся страны третьего мира формируют глобальную экономическую сеть и при этом — ограничены исключительно образом мышления. Не следует, однако, забывать, что курс на социально-ориентированный национальный проект, в своём классическом представлении, допускает внедрение направлений прогрессивного развития! Ясность нашей позиции очевидна: современная методология разработки предполагает независимые способы реализации глубокомысленных рассуждений. </a:t>
            </a:r>
          </a:p>
          <a:p>
            <a:pPr algn="just"/>
            <a:endParaRPr lang="ru-RU" sz="1100" dirty="0">
              <a:solidFill>
                <a:schemeClr val="bg1"/>
              </a:solidFill>
              <a:latin typeface="ALS Hauss Next" pitchFamily="50" charset="0"/>
            </a:endParaRPr>
          </a:p>
          <a:p>
            <a:pPr algn="just"/>
            <a:r>
              <a:rPr lang="ru-RU" sz="1100" dirty="0">
                <a:solidFill>
                  <a:schemeClr val="bg1"/>
                </a:solidFill>
                <a:latin typeface="ALS Hauss Next" pitchFamily="50" charset="0"/>
              </a:rPr>
              <a:t>С другой стороны, внедрение современных методик позволяет выполнить важные задания по разработке системы массового участия.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04280A-D917-EF09-D49B-C6B82F219C6C}"/>
              </a:ext>
            </a:extLst>
          </p:cNvPr>
          <p:cNvSpPr txBox="1"/>
          <p:nvPr/>
        </p:nvSpPr>
        <p:spPr>
          <a:xfrm>
            <a:off x="412576" y="1301953"/>
            <a:ext cx="5479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ALS Hauss Next Wide" pitchFamily="50" charset="0"/>
              </a:rPr>
              <a:t>ПОДЗАГОЛОВОК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60EBE-20C5-C0D4-1260-78FA1704F3F8}"/>
              </a:ext>
            </a:extLst>
          </p:cNvPr>
          <p:cNvSpPr txBox="1"/>
          <p:nvPr/>
        </p:nvSpPr>
        <p:spPr>
          <a:xfrm>
            <a:off x="11676063" y="6333663"/>
            <a:ext cx="315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ALS Hauss Next" pitchFamily="50" charset="0"/>
              </a:rPr>
              <a:t>2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C8ABE9A-A1D0-F279-F40D-1FC4BC9DD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8832" y="549275"/>
            <a:ext cx="1236518" cy="276116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C034AC85-09EA-5900-8DD5-57EDCD2BF6A7}"/>
              </a:ext>
            </a:extLst>
          </p:cNvPr>
          <p:cNvCxnSpPr>
            <a:cxnSpLocks/>
          </p:cNvCxnSpPr>
          <p:nvPr/>
        </p:nvCxnSpPr>
        <p:spPr>
          <a:xfrm>
            <a:off x="10720928" y="560728"/>
            <a:ext cx="0" cy="23937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CE8896B-A11A-8A45-763E-EB1CFC73A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57249" y="507904"/>
            <a:ext cx="1005549" cy="358858"/>
          </a:xfrm>
          <a:prstGeom prst="rect">
            <a:avLst/>
          </a:prstGeom>
        </p:spPr>
      </p:pic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9998EF1E-85C1-73AE-9D34-DF0E57C1F6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4445502"/>
              </p:ext>
            </p:extLst>
          </p:nvPr>
        </p:nvGraphicFramePr>
        <p:xfrm>
          <a:off x="6130319" y="1820487"/>
          <a:ext cx="5703685" cy="3802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30D6CBD-7A6A-97F2-0C47-9D5E437B80AA}"/>
              </a:ext>
            </a:extLst>
          </p:cNvPr>
          <p:cNvSpPr/>
          <p:nvPr/>
        </p:nvSpPr>
        <p:spPr>
          <a:xfrm>
            <a:off x="515938" y="5835535"/>
            <a:ext cx="1495742" cy="332509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19C0366-B26E-7CBD-5752-6E0F095F27D2}"/>
              </a:ext>
            </a:extLst>
          </p:cNvPr>
          <p:cNvSpPr/>
          <p:nvPr/>
        </p:nvSpPr>
        <p:spPr>
          <a:xfrm>
            <a:off x="2164080" y="5835535"/>
            <a:ext cx="1495742" cy="332509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12CAE2AC-4946-1DF5-BB75-DA18660E1D95}"/>
              </a:ext>
            </a:extLst>
          </p:cNvPr>
          <p:cNvSpPr/>
          <p:nvPr/>
        </p:nvSpPr>
        <p:spPr>
          <a:xfrm>
            <a:off x="3812222" y="5835535"/>
            <a:ext cx="1495742" cy="3325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4CF5D7-1A9F-A437-E561-970645A4AA8D}"/>
              </a:ext>
            </a:extLst>
          </p:cNvPr>
          <p:cNvSpPr txBox="1"/>
          <p:nvPr/>
        </p:nvSpPr>
        <p:spPr>
          <a:xfrm>
            <a:off x="813673" y="5870984"/>
            <a:ext cx="9002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>
                <a:solidFill>
                  <a:schemeClr val="bg1"/>
                </a:solidFill>
                <a:latin typeface="ALS Hauss Next Wide" pitchFamily="50" charset="0"/>
              </a:rPr>
              <a:t>ЭТАП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BFC991-CDF9-85CF-CB19-EBDB5D270A68}"/>
              </a:ext>
            </a:extLst>
          </p:cNvPr>
          <p:cNvSpPr txBox="1"/>
          <p:nvPr/>
        </p:nvSpPr>
        <p:spPr>
          <a:xfrm>
            <a:off x="2461815" y="5870984"/>
            <a:ext cx="9002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>
                <a:solidFill>
                  <a:schemeClr val="bg1"/>
                </a:solidFill>
                <a:latin typeface="ALS Hauss Next Wide" pitchFamily="50" charset="0"/>
              </a:rPr>
              <a:t>ЭТАП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B135FA-9253-263E-B2C0-C6757B7E6CD4}"/>
              </a:ext>
            </a:extLst>
          </p:cNvPr>
          <p:cNvSpPr txBox="1"/>
          <p:nvPr/>
        </p:nvSpPr>
        <p:spPr>
          <a:xfrm>
            <a:off x="4109957" y="5870984"/>
            <a:ext cx="9002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>
                <a:solidFill>
                  <a:srgbClr val="0B379B"/>
                </a:solidFill>
                <a:latin typeface="ALS Hauss Next Wide" pitchFamily="50" charset="0"/>
              </a:rPr>
              <a:t>ЭТАП 3</a:t>
            </a:r>
          </a:p>
        </p:txBody>
      </p:sp>
    </p:spTree>
    <p:extLst>
      <p:ext uri="{BB962C8B-B14F-4D97-AF65-F5344CB8AC3E}">
        <p14:creationId xmlns:p14="http://schemas.microsoft.com/office/powerpoint/2010/main" val="11627962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224</Words>
  <Application>Microsoft Office PowerPoint</Application>
  <PresentationFormat>Широкоэкранный</PresentationFormat>
  <Paragraphs>30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ALS Hauss Next</vt:lpstr>
      <vt:lpstr>ALS Hauss Next Wide</vt:lpstr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Boris Khripunov</dc:creator>
  <cp:lastModifiedBy>Спиченкова Яна Алексеевна</cp:lastModifiedBy>
  <cp:revision>2</cp:revision>
  <dcterms:created xsi:type="dcterms:W3CDTF">2026-06-30T09:13:32Z</dcterms:created>
  <dcterms:modified xsi:type="dcterms:W3CDTF">2026-07-01T17:06:18Z</dcterms:modified>
</cp:coreProperties>
</file>