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0" r:id="rId1"/>
  </p:sldMasterIdLst>
  <p:notesMasterIdLst>
    <p:notesMasterId r:id="rId6"/>
  </p:notesMasterIdLst>
  <p:sldIdLst>
    <p:sldId id="285" r:id="rId2"/>
    <p:sldId id="286" r:id="rId3"/>
    <p:sldId id="289" r:id="rId4"/>
    <p:sldId id="288" r:id="rId5"/>
  </p:sldIdLst>
  <p:sldSz cx="10799763" cy="3600450"/>
  <p:notesSz cx="6797675" cy="9925050"/>
  <p:embeddedFontLst>
    <p:embeddedFont>
      <p:font typeface="Druk Wide Cyr" charset="0"/>
      <p:bold r:id="rId7"/>
    </p:embeddedFont>
    <p:embeddedFont>
      <p:font typeface="Manrope" pitchFamily="2" charset="0"/>
      <p:regular r:id="rId8"/>
      <p:bold r:id="rId9"/>
    </p:embeddedFont>
    <p:embeddedFont>
      <p:font typeface="Sans Serif Collection" panose="020B0502040504020204" pitchFamily="34" charset="-78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9521BADF-2DD4-4DD1-A2AB-CA360434947F}">
          <p14:sldIdLst>
            <p14:sldId id="285"/>
            <p14:sldId id="286"/>
            <p14:sldId id="289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0" pos="107" userDrawn="1">
          <p15:clr>
            <a:srgbClr val="A4A3A4"/>
          </p15:clr>
        </p15:guide>
        <p15:guide id="11" orient="horz" pos="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113614-3D4A-D959-306B-C1501A9A160A}" name="Тимур Фархутдинов" initials="ТФ" userId="3368c0616fdce98a" providerId="Windows Live"/>
  <p188:author id="{6C72FE5B-A8E0-C0AC-451B-B8E187AABF98}" name="timur.farkhutdinov2@gmail.com" initials="t" userId="3d08e8c2326de532" providerId="Windows Live"/>
  <p188:author id="{89C34C68-78A2-B125-7192-FF2EFEBAE0FD}" name="Артем Безус" initials="АБ" userId="S-1-5-21-990862761-3251299651-1380545623-3220" providerId="AD"/>
  <p188:author id="{8FC4839B-44D3-796E-2E25-35336B0C54DF}" name="Ольга Шевченко" initials="ОШ" userId="Ольга Шевченко" providerId="None"/>
  <p188:author id="{F0EB4A9C-6597-5A72-E7D3-6E138B982CA8}" name="Игорь Малышев" initials="ИМ" userId="S-1-5-21-990862761-3251299651-1380545623-3261" providerId="AD"/>
  <p188:author id="{55A0EEAF-60F5-CB45-9831-3A9643DF3022}" name="7297" initials="77" userId="S::vip7297@d.of365.online::9e94307d-7670-4e49-9b41-9c10c7323eb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льга Шевченко" initials="ОШ" lastIdx="33" clrIdx="0">
    <p:extLst>
      <p:ext uri="{19B8F6BF-5375-455C-9EA6-DF929625EA0E}">
        <p15:presenceInfo xmlns:p15="http://schemas.microsoft.com/office/powerpoint/2012/main" userId="Ольга Шевченко" providerId="None"/>
      </p:ext>
    </p:extLst>
  </p:cmAuthor>
  <p:cmAuthor id="2" name="timur.farkhutdinov2@gmail.com" initials="t" lastIdx="1" clrIdx="1">
    <p:extLst>
      <p:ext uri="{19B8F6BF-5375-455C-9EA6-DF929625EA0E}">
        <p15:presenceInfo xmlns:p15="http://schemas.microsoft.com/office/powerpoint/2012/main" userId="3d08e8c2326de532" providerId="Windows Live"/>
      </p:ext>
    </p:extLst>
  </p:cmAuthor>
  <p:cmAuthor id="3" name="Игорь Малышев" initials="ИМ" lastIdx="12" clrIdx="2">
    <p:extLst>
      <p:ext uri="{19B8F6BF-5375-455C-9EA6-DF929625EA0E}">
        <p15:presenceInfo xmlns:p15="http://schemas.microsoft.com/office/powerpoint/2012/main" userId="S-1-5-21-990862761-3251299651-1380545623-3261" providerId="AD"/>
      </p:ext>
    </p:extLst>
  </p:cmAuthor>
  <p:cmAuthor id="4" name="Артем Безус" initials="АБ" lastIdx="10" clrIdx="3">
    <p:extLst>
      <p:ext uri="{19B8F6BF-5375-455C-9EA6-DF929625EA0E}">
        <p15:presenceInfo xmlns:p15="http://schemas.microsoft.com/office/powerpoint/2012/main" userId="S-1-5-21-990862761-3251299651-1380545623-32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9E0"/>
    <a:srgbClr val="1A3A82"/>
    <a:srgbClr val="1F6788"/>
    <a:srgbClr val="B40016"/>
    <a:srgbClr val="32486F"/>
    <a:srgbClr val="7F7F7F"/>
    <a:srgbClr val="FBFBFB"/>
    <a:srgbClr val="A5004B"/>
    <a:srgbClr val="BDD7EE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03" autoAdjust="0"/>
    <p:restoredTop sz="94185" autoAdjust="0"/>
  </p:normalViewPr>
  <p:slideViewPr>
    <p:cSldViewPr snapToGrid="0" showGuides="1">
      <p:cViewPr varScale="1">
        <p:scale>
          <a:sx n="152" d="100"/>
          <a:sy n="152" d="100"/>
        </p:scale>
        <p:origin x="150" y="564"/>
      </p:cViewPr>
      <p:guideLst>
        <p:guide pos="107"/>
        <p:guide orient="horz" pos="9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2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975F433B-0344-44A9-A44C-8DF596853146}" type="datetimeFigureOut">
              <a:rPr lang="ru-RU" smtClean="0"/>
              <a:pPr/>
              <a:t>26.06.2026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627188" y="1239838"/>
            <a:ext cx="10052051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37B8AB1A-6DA6-4193-BDEA-53A912C098C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33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1pPr>
    <a:lvl2pPr marL="346420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2pPr>
    <a:lvl3pPr marL="692841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3pPr>
    <a:lvl4pPr marL="1039261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4pPr>
    <a:lvl5pPr marL="1385682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5pPr>
    <a:lvl6pPr marL="1732102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6pPr>
    <a:lvl7pPr marL="2078523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7pPr>
    <a:lvl8pPr marL="2424943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8pPr>
    <a:lvl9pPr marL="2771364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1627188" y="1239838"/>
            <a:ext cx="10052051" cy="3351212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AB1A-6DA6-4193-BDEA-53A912C098C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5098-BFEE-55C6-DAD2-6AA49023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B570F6-3C0C-56D2-B9AA-E958027B9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627188" y="1239838"/>
            <a:ext cx="10052051" cy="3351212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8B17D60-70D6-537C-291B-0AB5C29BD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0BD541-FA88-4232-92A1-7E3174D1C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AB1A-6DA6-4193-BDEA-53A912C098C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812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EA90-F292-E34F-C617-BD2344E4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E0B345-0E66-B72E-3D5E-8C437B481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627188" y="1239838"/>
            <a:ext cx="10052051" cy="3351212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1BD2CA-2E3E-F1BD-B885-C6E2D351B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8131A3-6496-3B40-A2EF-5FD0EC709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AB1A-6DA6-4193-BDEA-53A912C098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245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EE50-D1DC-C8DB-FED6-6A9B6855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952BE0-6026-F4B0-45D7-1A1C815C9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627188" y="1239838"/>
            <a:ext cx="10052051" cy="3351212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C1C0442-BBD3-3566-B79D-E36E0E04C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C4B2DA-86EB-1C3E-A09D-740E8C0F9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AB1A-6DA6-4193-BDEA-53A912C098C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86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756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70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9" userDrawn="1">
          <p15:clr>
            <a:srgbClr val="F26B43"/>
          </p15:clr>
        </p15:guide>
        <p15:guide id="2" pos="181" userDrawn="1">
          <p15:clr>
            <a:srgbClr val="F26B43"/>
          </p15:clr>
        </p15:guide>
        <p15:guide id="3" pos="6616" userDrawn="1">
          <p15:clr>
            <a:srgbClr val="F26B43"/>
          </p15:clr>
        </p15:guide>
        <p15:guide id="4" orient="horz" pos="1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BAF6-4E64-2C23-38C7-709FFDE0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D38446-5A28-8113-761E-3E7D9DE77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017"/>
            <a:ext cx="10799763" cy="363648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BD88E1-0712-8AA2-C199-D7085D2C2CF0}"/>
              </a:ext>
            </a:extLst>
          </p:cNvPr>
          <p:cNvSpPr/>
          <p:nvPr/>
        </p:nvSpPr>
        <p:spPr>
          <a:xfrm>
            <a:off x="0" y="-19527"/>
            <a:ext cx="10799763" cy="3619977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6000"/>
                </a:schemeClr>
              </a:gs>
              <a:gs pos="100000">
                <a:schemeClr val="tx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0CE751-85E0-9FCC-EBCB-0BF6207D1F10}"/>
              </a:ext>
            </a:extLst>
          </p:cNvPr>
          <p:cNvSpPr txBox="1"/>
          <p:nvPr/>
        </p:nvSpPr>
        <p:spPr>
          <a:xfrm>
            <a:off x="296863" y="273051"/>
            <a:ext cx="5439628" cy="6894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Druk Wide Cyr" pitchFamily="50" charset="-52"/>
              </a:rPr>
              <a:t>Московский гарантийный фонд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F9D3DB9D-E54B-D03E-F5FA-15533BE24F0C}"/>
              </a:ext>
            </a:extLst>
          </p:cNvPr>
          <p:cNvGrpSpPr/>
          <p:nvPr/>
        </p:nvGrpSpPr>
        <p:grpSpPr>
          <a:xfrm>
            <a:off x="6651627" y="607811"/>
            <a:ext cx="3101974" cy="699369"/>
            <a:chOff x="6651627" y="365478"/>
            <a:chExt cx="3101974" cy="6993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0692D0-2A6A-6C3C-E776-107A5BC812CF}"/>
                </a:ext>
              </a:extLst>
            </p:cNvPr>
            <p:cNvSpPr txBox="1"/>
            <p:nvPr/>
          </p:nvSpPr>
          <p:spPr>
            <a:xfrm>
              <a:off x="6651627" y="365478"/>
              <a:ext cx="3101974" cy="282573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Получение кредита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158175-C00B-4DD2-DCC9-0C3CE869A95C}"/>
                </a:ext>
              </a:extLst>
            </p:cNvPr>
            <p:cNvSpPr txBox="1"/>
            <p:nvPr/>
          </p:nvSpPr>
          <p:spPr>
            <a:xfrm>
              <a:off x="6651628" y="622812"/>
              <a:ext cx="2965338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ru-RU" sz="12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сопровождаем предпринимателя на каждом этапе</a:t>
              </a: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9FBB5378-BFDD-200E-5BB7-0A8A14BED976}"/>
              </a:ext>
            </a:extLst>
          </p:cNvPr>
          <p:cNvGrpSpPr/>
          <p:nvPr/>
        </p:nvGrpSpPr>
        <p:grpSpPr>
          <a:xfrm>
            <a:off x="6651627" y="1619001"/>
            <a:ext cx="3682544" cy="514703"/>
            <a:chOff x="6651627" y="1222728"/>
            <a:chExt cx="3682544" cy="51470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9E1939-25D4-3DD5-9D4B-AAB66653D6B4}"/>
                </a:ext>
              </a:extLst>
            </p:cNvPr>
            <p:cNvSpPr txBox="1"/>
            <p:nvPr/>
          </p:nvSpPr>
          <p:spPr>
            <a:xfrm>
              <a:off x="6651627" y="1222728"/>
              <a:ext cx="3682544" cy="282573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Подготовка документов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5180AC-4920-071C-B628-26472A130460}"/>
                </a:ext>
              </a:extLst>
            </p:cNvPr>
            <p:cNvSpPr txBox="1"/>
            <p:nvPr/>
          </p:nvSpPr>
          <p:spPr>
            <a:xfrm>
              <a:off x="6651628" y="1480062"/>
              <a:ext cx="2711448" cy="257369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ru-RU" sz="12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помогаем собрать пакет для банка</a:t>
              </a: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D2D36DBB-1CC6-4614-544E-7AE015320671}"/>
              </a:ext>
            </a:extLst>
          </p:cNvPr>
          <p:cNvGrpSpPr/>
          <p:nvPr/>
        </p:nvGrpSpPr>
        <p:grpSpPr>
          <a:xfrm>
            <a:off x="6651627" y="2445524"/>
            <a:ext cx="3800473" cy="699369"/>
            <a:chOff x="6651627" y="1994765"/>
            <a:chExt cx="3800473" cy="69936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E23806-3CA9-B481-317A-1B04D60E16CF}"/>
                </a:ext>
              </a:extLst>
            </p:cNvPr>
            <p:cNvSpPr txBox="1"/>
            <p:nvPr/>
          </p:nvSpPr>
          <p:spPr>
            <a:xfrm>
              <a:off x="6651627" y="1994765"/>
              <a:ext cx="3682544" cy="282573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Поддержка бизнеса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D06C4E-1944-9B85-7579-21251AED70B1}"/>
                </a:ext>
              </a:extLst>
            </p:cNvPr>
            <p:cNvSpPr txBox="1"/>
            <p:nvPr/>
          </p:nvSpPr>
          <p:spPr>
            <a:xfrm>
              <a:off x="6651628" y="2252099"/>
              <a:ext cx="3800472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ru-RU" sz="12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работаем даже в ситуациях, когда самостоятельно получить финансирование сложно</a:t>
              </a: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0B41A62-DC3C-0DE5-E27D-4E47AEB4DC37}"/>
              </a:ext>
            </a:extLst>
          </p:cNvPr>
          <p:cNvGrpSpPr/>
          <p:nvPr/>
        </p:nvGrpSpPr>
        <p:grpSpPr>
          <a:xfrm>
            <a:off x="287338" y="2637980"/>
            <a:ext cx="5624512" cy="728858"/>
            <a:chOff x="287338" y="2637980"/>
            <a:chExt cx="5624512" cy="728858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B071AB5C-1FC7-0115-4362-467C1C5F48EF}"/>
                </a:ext>
              </a:extLst>
            </p:cNvPr>
            <p:cNvSpPr/>
            <p:nvPr/>
          </p:nvSpPr>
          <p:spPr>
            <a:xfrm>
              <a:off x="287338" y="2637980"/>
              <a:ext cx="5624512" cy="728858"/>
            </a:xfrm>
            <a:prstGeom prst="roundRect">
              <a:avLst>
                <a:gd name="adj" fmla="val 19224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A5EB9B-9F62-2DFF-3000-2944B54BB184}"/>
                </a:ext>
              </a:extLst>
            </p:cNvPr>
            <p:cNvSpPr txBox="1"/>
            <p:nvPr/>
          </p:nvSpPr>
          <p:spPr>
            <a:xfrm>
              <a:off x="494935" y="2744749"/>
              <a:ext cx="5043484" cy="515320"/>
            </a:xfrm>
            <a:prstGeom prst="rect">
              <a:avLst/>
            </a:prstGeom>
            <a:noFill/>
          </p:spPr>
          <p:txBody>
            <a:bodyPr wrap="square" lIns="0" tIns="10800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Главная задача ФСК — содействие кредитованию малого и среднего бизнеса Москвы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243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0511-7D5B-ADCD-69E4-718883FC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5C8CDF-E20C-EE09-9A32-FE6064AD2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017"/>
            <a:ext cx="10799763" cy="363648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70F94F-E7EA-0EC4-9C22-4AEBC960FB0F}"/>
              </a:ext>
            </a:extLst>
          </p:cNvPr>
          <p:cNvSpPr/>
          <p:nvPr/>
        </p:nvSpPr>
        <p:spPr>
          <a:xfrm>
            <a:off x="0" y="-26268"/>
            <a:ext cx="10799763" cy="363648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6000"/>
                </a:schemeClr>
              </a:gs>
              <a:gs pos="100000">
                <a:schemeClr val="tx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EFB8E-428A-7962-B7D5-9AFEDD61447D}"/>
              </a:ext>
            </a:extLst>
          </p:cNvPr>
          <p:cNvSpPr txBox="1"/>
          <p:nvPr/>
        </p:nvSpPr>
        <p:spPr>
          <a:xfrm>
            <a:off x="1665288" y="273051"/>
            <a:ext cx="7469187" cy="6894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Druk Wide Cyr" pitchFamily="50" charset="-52"/>
              </a:rPr>
              <a:t>Единый центр содействия кредитованию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27078B9-64B0-9E62-F4BF-6ABA7AF3BFAB}"/>
              </a:ext>
            </a:extLst>
          </p:cNvPr>
          <p:cNvGrpSpPr/>
          <p:nvPr/>
        </p:nvGrpSpPr>
        <p:grpSpPr>
          <a:xfrm>
            <a:off x="164118" y="1253539"/>
            <a:ext cx="1750477" cy="1205854"/>
            <a:chOff x="164118" y="1441450"/>
            <a:chExt cx="1750477" cy="1205854"/>
          </a:xfrm>
        </p:grpSpPr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BBEB7B96-2AB0-E154-7EDC-E2D685597853}"/>
                </a:ext>
              </a:extLst>
            </p:cNvPr>
            <p:cNvSpPr/>
            <p:nvPr/>
          </p:nvSpPr>
          <p:spPr>
            <a:xfrm>
              <a:off x="741281" y="1441450"/>
              <a:ext cx="596150" cy="596150"/>
            </a:xfrm>
            <a:prstGeom prst="ellipse">
              <a:avLst/>
            </a:prstGeom>
            <a:solidFill>
              <a:srgbClr val="1A3A82">
                <a:alpha val="59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21A87B8-3CBA-3849-583D-5EB68E443353}"/>
                </a:ext>
              </a:extLst>
            </p:cNvPr>
            <p:cNvSpPr txBox="1"/>
            <p:nvPr/>
          </p:nvSpPr>
          <p:spPr>
            <a:xfrm>
              <a:off x="164118" y="2180065"/>
              <a:ext cx="1750477" cy="467239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Кредитный брокеридж</a:t>
              </a: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F3D41BB0-C7E8-AFD1-3808-8B7C7F515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9766" r="81577" b="42387"/>
            <a:stretch>
              <a:fillRect/>
            </a:stretch>
          </p:blipFill>
          <p:spPr>
            <a:xfrm>
              <a:off x="807521" y="1497083"/>
              <a:ext cx="463670" cy="467240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E5444AB-170B-4392-D1DB-0E95803FFFCD}"/>
              </a:ext>
            </a:extLst>
          </p:cNvPr>
          <p:cNvGrpSpPr/>
          <p:nvPr/>
        </p:nvGrpSpPr>
        <p:grpSpPr>
          <a:xfrm>
            <a:off x="3524553" y="1253539"/>
            <a:ext cx="2883831" cy="1205854"/>
            <a:chOff x="2411861" y="1441450"/>
            <a:chExt cx="2883831" cy="1205854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4AFC1A32-5BE7-3973-23F4-37BB94EABF02}"/>
                </a:ext>
              </a:extLst>
            </p:cNvPr>
            <p:cNvSpPr/>
            <p:nvPr/>
          </p:nvSpPr>
          <p:spPr>
            <a:xfrm>
              <a:off x="3555701" y="1441450"/>
              <a:ext cx="596150" cy="596150"/>
            </a:xfrm>
            <a:prstGeom prst="ellipse">
              <a:avLst/>
            </a:prstGeom>
            <a:solidFill>
              <a:srgbClr val="1A3A82">
                <a:alpha val="59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C99003-3C72-7C9E-BBE4-3A161478DFAC}"/>
                </a:ext>
              </a:extLst>
            </p:cNvPr>
            <p:cNvSpPr txBox="1"/>
            <p:nvPr/>
          </p:nvSpPr>
          <p:spPr>
            <a:xfrm>
              <a:off x="2411861" y="2180065"/>
              <a:ext cx="2883831" cy="467239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Оценка кредитоспособности</a:t>
              </a: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45E80CCA-2F37-B68F-BD54-CFD494A0F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983" t="29766" r="56594" b="42387"/>
            <a:stretch>
              <a:fillRect/>
            </a:stretch>
          </p:blipFill>
          <p:spPr>
            <a:xfrm>
              <a:off x="3621941" y="1524056"/>
              <a:ext cx="463670" cy="467240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6A6C3DEE-7646-E108-F34F-E8662527B502}"/>
              </a:ext>
            </a:extLst>
          </p:cNvPr>
          <p:cNvGrpSpPr/>
          <p:nvPr/>
        </p:nvGrpSpPr>
        <p:grpSpPr>
          <a:xfrm>
            <a:off x="8018342" y="1253539"/>
            <a:ext cx="2484558" cy="1205854"/>
            <a:chOff x="8018342" y="1441450"/>
            <a:chExt cx="2484558" cy="1205854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3B5AE39-A06E-C47A-CE8F-7140AA0D7693}"/>
                </a:ext>
              </a:extLst>
            </p:cNvPr>
            <p:cNvSpPr/>
            <p:nvPr/>
          </p:nvSpPr>
          <p:spPr>
            <a:xfrm>
              <a:off x="8962546" y="1441450"/>
              <a:ext cx="596150" cy="596150"/>
            </a:xfrm>
            <a:prstGeom prst="ellipse">
              <a:avLst/>
            </a:prstGeom>
            <a:solidFill>
              <a:srgbClr val="1A3A82">
                <a:alpha val="59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A2DFFB-8115-60B4-9E25-2B63ADACB39C}"/>
                </a:ext>
              </a:extLst>
            </p:cNvPr>
            <p:cNvSpPr txBox="1"/>
            <p:nvPr/>
          </p:nvSpPr>
          <p:spPr>
            <a:xfrm>
              <a:off x="8018342" y="2180065"/>
              <a:ext cx="2484558" cy="467239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Реструктуризация обязательств</a:t>
              </a:r>
            </a:p>
          </p:txBody>
        </p: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5FCCAE40-5E51-FAE7-00A6-E84F5C2B9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5464" t="29766" r="6113" b="42387"/>
            <a:stretch>
              <a:fillRect/>
            </a:stretch>
          </p:blipFill>
          <p:spPr>
            <a:xfrm>
              <a:off x="9028786" y="1520895"/>
              <a:ext cx="463670" cy="46724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EC21772-C71D-523D-0E08-4A6A61A897BF}"/>
              </a:ext>
            </a:extLst>
          </p:cNvPr>
          <p:cNvSpPr txBox="1"/>
          <p:nvPr/>
        </p:nvSpPr>
        <p:spPr>
          <a:xfrm>
            <a:off x="3713918" y="2468115"/>
            <a:ext cx="2505100" cy="411257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pPr algn="ctr"/>
            <a:r>
              <a:rPr lang="ru-RU" sz="11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Онлайн-сервис «Взгляни на бизнес глазами банка»</a:t>
            </a:r>
          </a:p>
        </p:txBody>
      </p:sp>
    </p:spTree>
    <p:extLst>
      <p:ext uri="{BB962C8B-B14F-4D97-AF65-F5344CB8AC3E}">
        <p14:creationId xmlns:p14="http://schemas.microsoft.com/office/powerpoint/2010/main" val="389222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C84B9-954F-BB02-24AB-79145C3F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0E7B63-1E9C-B7C2-6639-2005FF14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017"/>
            <a:ext cx="10799763" cy="363648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BE2909-B0DF-5011-FB1E-1091115DC84F}"/>
              </a:ext>
            </a:extLst>
          </p:cNvPr>
          <p:cNvSpPr/>
          <p:nvPr/>
        </p:nvSpPr>
        <p:spPr>
          <a:xfrm>
            <a:off x="0" y="-26268"/>
            <a:ext cx="10799763" cy="363648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6000"/>
                </a:schemeClr>
              </a:gs>
              <a:gs pos="100000">
                <a:schemeClr val="tx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0EFCC4-3BB4-8209-30A1-3C4E8D8D456F}"/>
              </a:ext>
            </a:extLst>
          </p:cNvPr>
          <p:cNvSpPr txBox="1"/>
          <p:nvPr/>
        </p:nvSpPr>
        <p:spPr>
          <a:xfrm>
            <a:off x="296863" y="280801"/>
            <a:ext cx="4834132" cy="6894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Druk Wide Cyr" pitchFamily="50" charset="-52"/>
              </a:rPr>
              <a:t>СОДЕЙСТВИЕ КРЕДИТОВАНИЮ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F8027B-E6AD-4574-5AA4-177A893A6EBC}"/>
              </a:ext>
            </a:extLst>
          </p:cNvPr>
          <p:cNvSpPr txBox="1"/>
          <p:nvPr/>
        </p:nvSpPr>
        <p:spPr>
          <a:xfrm>
            <a:off x="296863" y="978472"/>
            <a:ext cx="4834132" cy="241980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Первая в России региональная программа льготного кредитования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930DB-654A-C8F8-5664-9797DF39DC6F}"/>
              </a:ext>
            </a:extLst>
          </p:cNvPr>
          <p:cNvSpPr txBox="1"/>
          <p:nvPr/>
        </p:nvSpPr>
        <p:spPr>
          <a:xfrm>
            <a:off x="296863" y="1192061"/>
            <a:ext cx="4292818" cy="241980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Единственная в России программа льготного факторинга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EDB2E68-CF51-6F48-0998-BC61BFA73F83}"/>
              </a:ext>
            </a:extLst>
          </p:cNvPr>
          <p:cNvGrpSpPr/>
          <p:nvPr/>
        </p:nvGrpSpPr>
        <p:grpSpPr>
          <a:xfrm>
            <a:off x="385763" y="1600201"/>
            <a:ext cx="4792574" cy="1747838"/>
            <a:chOff x="385763" y="1600201"/>
            <a:chExt cx="4792574" cy="1747838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F801D652-8AAF-CFBC-C0EB-E1E53F989EA2}"/>
                </a:ext>
              </a:extLst>
            </p:cNvPr>
            <p:cNvSpPr/>
            <p:nvPr/>
          </p:nvSpPr>
          <p:spPr>
            <a:xfrm>
              <a:off x="385763" y="1600201"/>
              <a:ext cx="4792574" cy="1747838"/>
            </a:xfrm>
            <a:prstGeom prst="roundRect">
              <a:avLst>
                <a:gd name="adj" fmla="val 8769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E869F79B-15D4-C896-E2C9-82D7E8210477}"/>
                </a:ext>
              </a:extLst>
            </p:cNvPr>
            <p:cNvGrpSpPr/>
            <p:nvPr/>
          </p:nvGrpSpPr>
          <p:grpSpPr>
            <a:xfrm>
              <a:off x="2892769" y="1853403"/>
              <a:ext cx="2147015" cy="496665"/>
              <a:chOff x="427153" y="1970013"/>
              <a:chExt cx="2147015" cy="49666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1BCA4-90AC-9AFD-7FFA-8D0AD9CEDBD7}"/>
                  </a:ext>
                </a:extLst>
              </p:cNvPr>
              <p:cNvSpPr txBox="1"/>
              <p:nvPr/>
            </p:nvSpPr>
            <p:spPr>
              <a:xfrm>
                <a:off x="427153" y="1970013"/>
                <a:ext cx="133497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&gt;0,4 </a:t>
                </a:r>
                <a:r>
                  <a:rPr lang="ru-RU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тыс.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7DA25B-20BD-1546-A1B8-36938846F032}"/>
                  </a:ext>
                </a:extLst>
              </p:cNvPr>
              <p:cNvSpPr txBox="1"/>
              <p:nvPr/>
            </p:nvSpPr>
            <p:spPr>
              <a:xfrm>
                <a:off x="427153" y="2224698"/>
                <a:ext cx="2147015" cy="24198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Договоров заключено в 2026г.</a:t>
                </a:r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7CEC3C6B-23C6-3085-5F0B-9155AE0681F1}"/>
                </a:ext>
              </a:extLst>
            </p:cNvPr>
            <p:cNvGrpSpPr/>
            <p:nvPr/>
          </p:nvGrpSpPr>
          <p:grpSpPr>
            <a:xfrm>
              <a:off x="2892769" y="2493560"/>
              <a:ext cx="2235085" cy="665942"/>
              <a:chOff x="427153" y="2542241"/>
              <a:chExt cx="2235085" cy="66594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7DD300-4E8F-123C-1E2A-617B6A604C60}"/>
                  </a:ext>
                </a:extLst>
              </p:cNvPr>
              <p:cNvSpPr txBox="1"/>
              <p:nvPr/>
            </p:nvSpPr>
            <p:spPr>
              <a:xfrm>
                <a:off x="427153" y="2542241"/>
                <a:ext cx="223508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&gt;</a:t>
                </a:r>
                <a:r>
                  <a:rPr lang="ru-RU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10,7</a:t>
                </a:r>
                <a:r>
                  <a:rPr lang="en-US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 </a:t>
                </a:r>
                <a:r>
                  <a:rPr lang="ru-RU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млрд руб.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77B574-983F-39BE-C5DA-ABB580D7D037}"/>
                  </a:ext>
                </a:extLst>
              </p:cNvPr>
              <p:cNvSpPr txBox="1"/>
              <p:nvPr/>
            </p:nvSpPr>
            <p:spPr>
              <a:xfrm>
                <a:off x="427153" y="2796926"/>
                <a:ext cx="2147015" cy="411257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МСП Москвы смогли привлечь заемных средств</a:t>
                </a:r>
              </a:p>
            </p:txBody>
          </p:sp>
        </p:grpSp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BF872592-BE6D-F6C3-6893-F53174BAF8A8}"/>
                </a:ext>
              </a:extLst>
            </p:cNvPr>
            <p:cNvGrpSpPr/>
            <p:nvPr/>
          </p:nvGrpSpPr>
          <p:grpSpPr>
            <a:xfrm>
              <a:off x="597482" y="1675988"/>
              <a:ext cx="2052778" cy="1590909"/>
              <a:chOff x="5745931" y="1656662"/>
              <a:chExt cx="2052778" cy="159090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BF2579-E17A-AF75-8347-0F4ABDEA9C8F}"/>
                  </a:ext>
                </a:extLst>
              </p:cNvPr>
              <p:cNvSpPr txBox="1"/>
              <p:nvPr/>
            </p:nvSpPr>
            <p:spPr>
              <a:xfrm>
                <a:off x="5745931" y="1656662"/>
                <a:ext cx="1771013" cy="515901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ru-RU" sz="12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5 программ льготного кредитования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F7DEFB-438B-172B-445C-68778B1DB66F}"/>
                  </a:ext>
                </a:extLst>
              </p:cNvPr>
              <p:cNvSpPr txBox="1"/>
              <p:nvPr/>
            </p:nvSpPr>
            <p:spPr>
              <a:xfrm>
                <a:off x="5745932" y="2205372"/>
                <a:ext cx="2052777" cy="1042199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на оборотные средства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онлайн-кредитование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интеллектуальная собственность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на экспортную деятельность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льготный факторинг</a:t>
                </a:r>
              </a:p>
            </p:txBody>
          </p:sp>
        </p:grp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1C92FB94-D02D-D086-BA91-F946AF466253}"/>
              </a:ext>
            </a:extLst>
          </p:cNvPr>
          <p:cNvGrpSpPr/>
          <p:nvPr/>
        </p:nvGrpSpPr>
        <p:grpSpPr>
          <a:xfrm>
            <a:off x="8840786" y="225533"/>
            <a:ext cx="862457" cy="316419"/>
            <a:chOff x="5589143" y="301146"/>
            <a:chExt cx="862457" cy="31641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E4B97A-613D-9DCE-6D93-D76B8B2BBCAE}"/>
                </a:ext>
              </a:extLst>
            </p:cNvPr>
            <p:cNvSpPr txBox="1"/>
            <p:nvPr/>
          </p:nvSpPr>
          <p:spPr>
            <a:xfrm>
              <a:off x="5589143" y="301146"/>
              <a:ext cx="86245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0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24 000+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DDC4A05-3D2C-DEE2-4BE7-CE24F6B66F33}"/>
                </a:ext>
              </a:extLst>
            </p:cNvPr>
            <p:cNvSpPr txBox="1"/>
            <p:nvPr/>
          </p:nvSpPr>
          <p:spPr>
            <a:xfrm>
              <a:off x="5589144" y="421751"/>
              <a:ext cx="811656" cy="195814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ru-RU" sz="8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поручительств</a:t>
              </a: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94FABEA0-1A8B-DC3D-E592-12684AB81844}"/>
              </a:ext>
            </a:extLst>
          </p:cNvPr>
          <p:cNvGrpSpPr/>
          <p:nvPr/>
        </p:nvGrpSpPr>
        <p:grpSpPr>
          <a:xfrm>
            <a:off x="8840786" y="631438"/>
            <a:ext cx="1334974" cy="316419"/>
            <a:chOff x="6724093" y="283887"/>
            <a:chExt cx="1334974" cy="31641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30D1452-085D-0FAD-1E34-19E438182A19}"/>
                </a:ext>
              </a:extLst>
            </p:cNvPr>
            <p:cNvSpPr txBox="1"/>
            <p:nvPr/>
          </p:nvSpPr>
          <p:spPr>
            <a:xfrm>
              <a:off x="6724093" y="283887"/>
              <a:ext cx="133497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0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210 млрд руб.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7A45CC9-CD25-836F-48DC-6953DE13D037}"/>
                </a:ext>
              </a:extLst>
            </p:cNvPr>
            <p:cNvSpPr txBox="1"/>
            <p:nvPr/>
          </p:nvSpPr>
          <p:spPr>
            <a:xfrm>
              <a:off x="6724093" y="404492"/>
              <a:ext cx="1134948" cy="195814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ru-RU" sz="8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сумма поручительств</a:t>
              </a:r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3A9FA4B2-0AAF-41A7-C75B-92F3150A7AED}"/>
              </a:ext>
            </a:extLst>
          </p:cNvPr>
          <p:cNvGrpSpPr/>
          <p:nvPr/>
        </p:nvGrpSpPr>
        <p:grpSpPr>
          <a:xfrm>
            <a:off x="8840787" y="1037343"/>
            <a:ext cx="1671639" cy="316419"/>
            <a:chOff x="8391553" y="247461"/>
            <a:chExt cx="1671639" cy="31641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65CC430-0852-F806-49E7-19CC350548CB}"/>
                </a:ext>
              </a:extLst>
            </p:cNvPr>
            <p:cNvSpPr txBox="1"/>
            <p:nvPr/>
          </p:nvSpPr>
          <p:spPr>
            <a:xfrm>
              <a:off x="8391553" y="247461"/>
              <a:ext cx="133497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0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438 млрд руб.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E12591E-4653-A8A3-BED9-BEAA99B3C8F9}"/>
                </a:ext>
              </a:extLst>
            </p:cNvPr>
            <p:cNvSpPr txBox="1"/>
            <p:nvPr/>
          </p:nvSpPr>
          <p:spPr>
            <a:xfrm>
              <a:off x="8391554" y="368066"/>
              <a:ext cx="1671638" cy="195814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ru-RU" sz="8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привлечённого финансирования</a:t>
              </a:r>
            </a:p>
          </p:txBody>
        </p:sp>
      </p:grpSp>
      <p:sp>
        <p:nvSpPr>
          <p:cNvPr id="45" name="Дуга 44">
            <a:extLst>
              <a:ext uri="{FF2B5EF4-FFF2-40B4-BE49-F238E27FC236}">
                <a16:creationId xmlns:a16="http://schemas.microsoft.com/office/drawing/2014/main" id="{9576F467-2C90-5D17-83CA-BF37441FF171}"/>
              </a:ext>
            </a:extLst>
          </p:cNvPr>
          <p:cNvSpPr/>
          <p:nvPr/>
        </p:nvSpPr>
        <p:spPr>
          <a:xfrm>
            <a:off x="6003134" y="314531"/>
            <a:ext cx="914400" cy="914400"/>
          </a:xfrm>
          <a:prstGeom prst="arc">
            <a:avLst>
              <a:gd name="adj1" fmla="val 16200000"/>
              <a:gd name="adj2" fmla="val 8217830"/>
            </a:avLst>
          </a:prstGeom>
          <a:noFill/>
          <a:ln w="101600" cap="rnd">
            <a:solidFill>
              <a:srgbClr val="628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Дуга 45">
            <a:extLst>
              <a:ext uri="{FF2B5EF4-FFF2-40B4-BE49-F238E27FC236}">
                <a16:creationId xmlns:a16="http://schemas.microsoft.com/office/drawing/2014/main" id="{B8AE1CA7-5915-2EE8-C16B-0E5400FBFB6A}"/>
              </a:ext>
            </a:extLst>
          </p:cNvPr>
          <p:cNvSpPr/>
          <p:nvPr/>
        </p:nvSpPr>
        <p:spPr>
          <a:xfrm>
            <a:off x="6003134" y="314531"/>
            <a:ext cx="914400" cy="914400"/>
          </a:xfrm>
          <a:prstGeom prst="arc">
            <a:avLst>
              <a:gd name="adj1" fmla="val 16200000"/>
              <a:gd name="adj2" fmla="val 18689814"/>
            </a:avLst>
          </a:prstGeom>
          <a:ln w="101600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C4E2C2-5845-935C-50EC-E35CAF3B0E2F}"/>
              </a:ext>
            </a:extLst>
          </p:cNvPr>
          <p:cNvSpPr txBox="1"/>
          <p:nvPr/>
        </p:nvSpPr>
        <p:spPr>
          <a:xfrm>
            <a:off x="5692775" y="536325"/>
            <a:ext cx="112072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Druk Wide Cyr" pitchFamily="50" charset="-52"/>
                <a:ea typeface="Sans Serif Collection" panose="020B0502040504020204" pitchFamily="34" charset="0"/>
                <a:cs typeface="Sans Serif Collection" panose="020B0502040504020204" pitchFamily="34" charset="0"/>
              </a:rPr>
              <a:t>19%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9B83A2-5262-20DC-30E4-7E01F4DC4076}"/>
              </a:ext>
            </a:extLst>
          </p:cNvPr>
          <p:cNvSpPr txBox="1"/>
          <p:nvPr/>
        </p:nvSpPr>
        <p:spPr>
          <a:xfrm>
            <a:off x="7123859" y="489158"/>
            <a:ext cx="1207128" cy="565146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r>
              <a:rPr lang="ru-RU" sz="8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Доля Московского гарантийного фонда </a:t>
            </a:r>
            <a:br>
              <a:rPr lang="ru-RU" sz="8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ru-RU" sz="8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в национальной гарантийной системе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FCB82028-ED0B-0413-57C2-770B0E989E71}"/>
              </a:ext>
            </a:extLst>
          </p:cNvPr>
          <p:cNvGrpSpPr/>
          <p:nvPr/>
        </p:nvGrpSpPr>
        <p:grpSpPr>
          <a:xfrm>
            <a:off x="5719852" y="1600201"/>
            <a:ext cx="4792574" cy="1747838"/>
            <a:chOff x="385763" y="1600201"/>
            <a:chExt cx="4792574" cy="1747838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A2F2C001-6AF1-8E74-45E2-49AA2B5DD700}"/>
                </a:ext>
              </a:extLst>
            </p:cNvPr>
            <p:cNvSpPr/>
            <p:nvPr/>
          </p:nvSpPr>
          <p:spPr>
            <a:xfrm>
              <a:off x="385763" y="1600201"/>
              <a:ext cx="4792574" cy="1747838"/>
            </a:xfrm>
            <a:prstGeom prst="roundRect">
              <a:avLst>
                <a:gd name="adj" fmla="val 8769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AD4C1404-E6B7-658F-4CA0-7904920A70A9}"/>
                </a:ext>
              </a:extLst>
            </p:cNvPr>
            <p:cNvGrpSpPr/>
            <p:nvPr/>
          </p:nvGrpSpPr>
          <p:grpSpPr>
            <a:xfrm>
              <a:off x="2681050" y="1853403"/>
              <a:ext cx="2497287" cy="496665"/>
              <a:chOff x="215434" y="1970013"/>
              <a:chExt cx="2497287" cy="496665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AD9097D-488B-919C-11BE-45C41305F91B}"/>
                  </a:ext>
                </a:extLst>
              </p:cNvPr>
              <p:cNvSpPr txBox="1"/>
              <p:nvPr/>
            </p:nvSpPr>
            <p:spPr>
              <a:xfrm>
                <a:off x="215434" y="1970013"/>
                <a:ext cx="133497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ru-RU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&gt;1,8 тыс.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59FCD58-489A-4871-FE81-6B1B24754D16}"/>
                  </a:ext>
                </a:extLst>
              </p:cNvPr>
              <p:cNvSpPr txBox="1"/>
              <p:nvPr/>
            </p:nvSpPr>
            <p:spPr>
              <a:xfrm>
                <a:off x="215434" y="2224698"/>
                <a:ext cx="2497287" cy="24198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Договоров поручительств в 2026г.</a:t>
                </a:r>
              </a:p>
            </p:txBody>
          </p:sp>
        </p:grp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015B4C80-1AAD-7978-C31E-853A2CF70674}"/>
                </a:ext>
              </a:extLst>
            </p:cNvPr>
            <p:cNvGrpSpPr/>
            <p:nvPr/>
          </p:nvGrpSpPr>
          <p:grpSpPr>
            <a:xfrm>
              <a:off x="2681050" y="2493560"/>
              <a:ext cx="2235085" cy="665942"/>
              <a:chOff x="215434" y="2542241"/>
              <a:chExt cx="2235085" cy="66594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D91BCC-1993-9E3F-87B9-7027EAB76872}"/>
                  </a:ext>
                </a:extLst>
              </p:cNvPr>
              <p:cNvSpPr txBox="1"/>
              <p:nvPr/>
            </p:nvSpPr>
            <p:spPr>
              <a:xfrm>
                <a:off x="215434" y="2542241"/>
                <a:ext cx="223508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&gt;</a:t>
                </a:r>
                <a:r>
                  <a:rPr lang="ru-RU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16,7</a:t>
                </a:r>
                <a:r>
                  <a:rPr lang="en-US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 </a:t>
                </a:r>
                <a:r>
                  <a:rPr lang="ru-RU" sz="16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млрд руб.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FA3C08D-0D79-A420-197C-077665FDB1FC}"/>
                  </a:ext>
                </a:extLst>
              </p:cNvPr>
              <p:cNvSpPr txBox="1"/>
              <p:nvPr/>
            </p:nvSpPr>
            <p:spPr>
              <a:xfrm>
                <a:off x="215434" y="2796926"/>
                <a:ext cx="2147015" cy="411257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МСП Москвы смогли привлечь под поручительство</a:t>
                </a:r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142E8368-E9CD-F61A-4C5D-3CED94AC1498}"/>
                </a:ext>
              </a:extLst>
            </p:cNvPr>
            <p:cNvGrpSpPr/>
            <p:nvPr/>
          </p:nvGrpSpPr>
          <p:grpSpPr>
            <a:xfrm>
              <a:off x="597482" y="1675988"/>
              <a:ext cx="2052778" cy="1429711"/>
              <a:chOff x="5745931" y="1656662"/>
              <a:chExt cx="2052778" cy="1429711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DE508F-7D0A-D6CA-65E6-DF938F677F7F}"/>
                  </a:ext>
                </a:extLst>
              </p:cNvPr>
              <p:cNvSpPr txBox="1"/>
              <p:nvPr/>
            </p:nvSpPr>
            <p:spPr>
              <a:xfrm>
                <a:off x="5745931" y="1656662"/>
                <a:ext cx="1771013" cy="515901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ru-RU" sz="12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5 </a:t>
                </a:r>
                <a:br>
                  <a:rPr lang="ru-RU" sz="12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</a:br>
                <a:r>
                  <a:rPr lang="ru-RU" sz="1200" dirty="0">
                    <a:solidFill>
                      <a:schemeClr val="bg1"/>
                    </a:solidFill>
                    <a:latin typeface="Druk Wide Cyr" pitchFamily="50" charset="-52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гарантийных продуктов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EBF754-A45E-34DD-1DB3-A3E3500159F1}"/>
                  </a:ext>
                </a:extLst>
              </p:cNvPr>
              <p:cNvSpPr txBox="1"/>
              <p:nvPr/>
            </p:nvSpPr>
            <p:spPr>
              <a:xfrm>
                <a:off x="5745932" y="2205372"/>
                <a:ext cx="2052777" cy="881001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по кредиту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по банковской гарантии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по лизингу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по факторингу</a:t>
                </a:r>
              </a:p>
              <a:p>
                <a:pPr marL="108000" indent="-108000">
                  <a:lnSpc>
                    <a:spcPct val="8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ru-RU" sz="1050" dirty="0">
                    <a:solidFill>
                      <a:schemeClr val="bg1"/>
                    </a:solidFill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по аккредитиву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964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CCAB-4C4D-AA4D-0DB2-CD1D6F72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85C22C-5CFF-C6BE-5DCE-010EEE2B6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017"/>
            <a:ext cx="10799763" cy="363648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FD6ED2-69AB-94E9-25EF-83F4ADC00C1B}"/>
              </a:ext>
            </a:extLst>
          </p:cNvPr>
          <p:cNvSpPr/>
          <p:nvPr/>
        </p:nvSpPr>
        <p:spPr>
          <a:xfrm>
            <a:off x="0" y="-26268"/>
            <a:ext cx="10799763" cy="363648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6000"/>
                </a:schemeClr>
              </a:gs>
              <a:gs pos="100000">
                <a:schemeClr val="tx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42B8B-0031-782E-6E38-2F2C71568D19}"/>
              </a:ext>
            </a:extLst>
          </p:cNvPr>
          <p:cNvSpPr txBox="1"/>
          <p:nvPr/>
        </p:nvSpPr>
        <p:spPr>
          <a:xfrm>
            <a:off x="296863" y="283885"/>
            <a:ext cx="6319937" cy="6894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Druk Wide Cyr" pitchFamily="50" charset="-52"/>
              </a:rPr>
              <a:t>Обучающие мероприятия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93402-0E43-E91A-DFD5-5CF303C253FB}"/>
              </a:ext>
            </a:extLst>
          </p:cNvPr>
          <p:cNvSpPr txBox="1"/>
          <p:nvPr/>
        </p:nvSpPr>
        <p:spPr>
          <a:xfrm>
            <a:off x="296863" y="1027059"/>
            <a:ext cx="3313843" cy="411257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Повышаем финансовую грамотность предпринимателям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02B8895-6915-6A83-4A32-698B21C5918C}"/>
              </a:ext>
            </a:extLst>
          </p:cNvPr>
          <p:cNvGrpSpPr/>
          <p:nvPr/>
        </p:nvGrpSpPr>
        <p:grpSpPr>
          <a:xfrm>
            <a:off x="956136" y="1717484"/>
            <a:ext cx="2454153" cy="889301"/>
            <a:chOff x="296863" y="2350118"/>
            <a:chExt cx="2454153" cy="889301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BE81C45C-FB70-C040-71C7-AC4D4032307C}"/>
                </a:ext>
              </a:extLst>
            </p:cNvPr>
            <p:cNvSpPr/>
            <p:nvPr/>
          </p:nvSpPr>
          <p:spPr>
            <a:xfrm>
              <a:off x="296863" y="2350118"/>
              <a:ext cx="2454153" cy="889301"/>
            </a:xfrm>
            <a:prstGeom prst="roundRect">
              <a:avLst>
                <a:gd name="adj" fmla="val 15169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B7F538-CF24-8B36-216E-F0CF3F9AEC1A}"/>
                </a:ext>
              </a:extLst>
            </p:cNvPr>
            <p:cNvSpPr txBox="1"/>
            <p:nvPr/>
          </p:nvSpPr>
          <p:spPr>
            <a:xfrm>
              <a:off x="741908" y="2671657"/>
              <a:ext cx="156406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Вебинары</a:t>
              </a: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13F62998-CB67-0E17-9D85-E4CA9B98B4E6}"/>
              </a:ext>
            </a:extLst>
          </p:cNvPr>
          <p:cNvGrpSpPr/>
          <p:nvPr/>
        </p:nvGrpSpPr>
        <p:grpSpPr>
          <a:xfrm>
            <a:off x="4172805" y="1717484"/>
            <a:ext cx="2454153" cy="889301"/>
            <a:chOff x="321586" y="2350118"/>
            <a:chExt cx="2454153" cy="889301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C1B784B1-089F-5E90-E622-1297583B7983}"/>
                </a:ext>
              </a:extLst>
            </p:cNvPr>
            <p:cNvSpPr/>
            <p:nvPr/>
          </p:nvSpPr>
          <p:spPr>
            <a:xfrm>
              <a:off x="321586" y="2350118"/>
              <a:ext cx="2454153" cy="889301"/>
            </a:xfrm>
            <a:prstGeom prst="roundRect">
              <a:avLst>
                <a:gd name="adj" fmla="val 15169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5B89DE-0FE2-E04E-8440-19EF04F6FEFA}"/>
                </a:ext>
              </a:extLst>
            </p:cNvPr>
            <p:cNvSpPr txBox="1"/>
            <p:nvPr/>
          </p:nvSpPr>
          <p:spPr>
            <a:xfrm>
              <a:off x="321586" y="2597790"/>
              <a:ext cx="2454153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ru-RU" sz="16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Бизнес Конференции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FE51E32-D604-17FC-2803-E73D179BDF26}"/>
              </a:ext>
            </a:extLst>
          </p:cNvPr>
          <p:cNvGrpSpPr/>
          <p:nvPr/>
        </p:nvGrpSpPr>
        <p:grpSpPr>
          <a:xfrm>
            <a:off x="7389474" y="1717484"/>
            <a:ext cx="2454153" cy="889301"/>
            <a:chOff x="321586" y="2350118"/>
            <a:chExt cx="2454153" cy="889301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5DCBABBB-337C-094D-DB2C-17B979244FBF}"/>
                </a:ext>
              </a:extLst>
            </p:cNvPr>
            <p:cNvSpPr/>
            <p:nvPr/>
          </p:nvSpPr>
          <p:spPr>
            <a:xfrm>
              <a:off x="321586" y="2350118"/>
              <a:ext cx="2454153" cy="889301"/>
            </a:xfrm>
            <a:prstGeom prst="roundRect">
              <a:avLst>
                <a:gd name="adj" fmla="val 15169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58AE97-5EB8-78D3-4EF0-C45BF40CD90F}"/>
                </a:ext>
              </a:extLst>
            </p:cNvPr>
            <p:cNvSpPr txBox="1"/>
            <p:nvPr/>
          </p:nvSpPr>
          <p:spPr>
            <a:xfrm>
              <a:off x="321586" y="2519971"/>
              <a:ext cx="2454153" cy="6401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0000"/>
                </a:lnSpc>
                <a:spcAft>
                  <a:spcPts val="600"/>
                </a:spcAft>
              </a:pPr>
              <a:r>
                <a:rPr lang="ru-RU" sz="1600" dirty="0">
                  <a:solidFill>
                    <a:schemeClr val="bg1"/>
                  </a:solidFill>
                  <a:latin typeface="Druk Wide Cyr" pitchFamily="50" charset="-52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Финансовый гид</a:t>
              </a:r>
            </a:p>
            <a:p>
              <a:pPr algn="ctr"/>
              <a:r>
                <a:rPr lang="ru-RU" sz="11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Полезные статьи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859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39029</TotalTime>
  <Words>187</Words>
  <Application>Microsoft Office PowerPoint</Application>
  <PresentationFormat>Произвольный</PresentationFormat>
  <Paragraphs>54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Sans Serif Collection</vt:lpstr>
      <vt:lpstr>Arial</vt:lpstr>
      <vt:lpstr>Druk Wide Cyr</vt:lpstr>
      <vt:lpstr>Manrope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TIMUR</dc:creator>
  <cp:lastModifiedBy>Татьяна Мухаметжанова</cp:lastModifiedBy>
  <cp:revision>682</cp:revision>
  <cp:lastPrinted>2025-03-04T11:48:20Z</cp:lastPrinted>
  <dcterms:created xsi:type="dcterms:W3CDTF">2024-11-28T16:00:08Z</dcterms:created>
  <dcterms:modified xsi:type="dcterms:W3CDTF">2026-06-26T10:02:25Z</dcterms:modified>
</cp:coreProperties>
</file>